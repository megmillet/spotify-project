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12192000"/>
  <p:embeddedFontLst>
    <p:embeddedFont>
      <p:font typeface="Play"/>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B76D0C-9704-4C81-A916-03D9A4E945BC}">
  <a:tblStyle styleId="{31B76D0C-9704-4C81-A916-03D9A4E945B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lay-bold.fntdata"/><Relationship Id="rId6" Type="http://schemas.openxmlformats.org/officeDocument/2006/relationships/slide" Target="slides/slide1.xml"/><Relationship Id="rId18" Type="http://schemas.openxmlformats.org/officeDocument/2006/relationships/font" Target="fonts/Play-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Opening: Our group is building a content-based music recommendation system. My part for this presentation is the exploratory data analysis.,The purpose of the EDA is not just to make plots. We want to understand the audio variables that will later define similarity between songs.,I will stop at the scatterplots today. The next phase is preprocessing and standardization before KNN.</a:t>
            </a:r>
            <a:endParaRPr/>
          </a:p>
        </p:txBody>
      </p:sp>
      <p:sp>
        <p:nvSpPr>
          <p:cNvPr id="20" name="Google Shape;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recommender will compare songs using numerical audio characteristics. So before computing distances, we need to know whether those variables are usable and what their distributions look like.,This makes the EDA directly connected to the recommender rather than a separate exercise.</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baseline recommender will use these eight features to represent each song numerically.,Track name and artist name are identifiers. They help us find and display songs, but they are not part of the numerical distance calculation.</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very useful result: the eight audio features have zero missingness, so we do not need an imputation strategy for the baseline model.,There are four repeated track-artist combinations. We should inspect them instead of deleting them blindly, because some may be legitimate versions or slightly different records.</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descriptive statistics already tell us that the features behave very differently.,Instrumentalness is especially unusual: the median is zero and about 90.9% of tracks have zero instrumentalness.,This is one reason we should not jump directly into KNN before examining distributions and scaling.</a:t>
            </a:r>
            <a:endParaRPr/>
          </a:p>
        </p:txBody>
      </p:sp>
      <p:sp>
        <p:nvSpPr>
          <p:cNvPr id="120" name="Google Shape;12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shows all eight feature distributions.,Valence is close to balanced, while acousticness is right-skewed and instrumentalness, liveness and speechiness have pronounced right tails.,The purpose is to understand what kinds of differences the distance metric will encounter later.</a:t>
            </a:r>
            <a:endParaRPr/>
          </a:p>
        </p:txBody>
      </p:sp>
      <p:sp>
        <p:nvSpPr>
          <p:cNvPr id="137" name="Google Shape;13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Skewness quantifies the asymmetry we saw in the histograms.,Instrumentalness has skewness 7.12, much larger than the other features.,I am not removing it at the EDA stage. Instead, this becomes a future feature-ablation question for the recommender.</a:t>
            </a:r>
            <a:endParaRPr/>
          </a:p>
        </p:txBody>
      </p:sp>
      <p:sp>
        <p:nvSpPr>
          <p:cNvPr id="155" name="Google Shape;15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Boxplots flag observations that are unusual relative to the bulk of the sample.,But in music, high speechiness might represent rap or spoken-word tracks, and high instrumentalness may represent instrumental music. Those are real musical distinctions, not automatically errors.,So the correct EDA response is investigate, not delete.</a:t>
            </a:r>
            <a:endParaRPr/>
          </a:p>
        </p:txBody>
      </p:sp>
      <p:sp>
        <p:nvSpPr>
          <p:cNvPr id="171" name="Google Shape;1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useful limitation slide. The catalog is heavily concentrated in recent music.,That means the recommender may naturally favor newer popular songs because those are what the source dataset contains.,This is not a modeling error; it is a limitation of the recommendation pool.</a:t>
            </a:r>
            <a:endParaRPr/>
          </a:p>
        </p:txBody>
      </p:sp>
      <p:sp>
        <p:nvSpPr>
          <p:cNvPr id="188" name="Google Shape;1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Correlation measures linear association between pairs of audio features; it does not imply causation.,The strongest relationship is energy versus acousticness at r=-0.58.,Danceability versus valence is moderately positive at r=0.41.,Because no pair is extremely correlated, I would keep all eight features for the baseline and compare feature subsets later.</a:t>
            </a:r>
            <a:endParaRPr/>
          </a:p>
        </p:txBody>
      </p:sp>
      <p:sp>
        <p:nvSpPr>
          <p:cNvPr id="206" name="Google Shape;20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where I would stop the EDA presentation tomorrow.,The scatterplots validate the heatmap patterns but also show considerable variation, which is important because the recommender uses all features jointly.,The next stage is not more EDA; it is preprocessing and standardization before KNN.</a:t>
            </a:r>
            <a:endParaRPr/>
          </a:p>
        </p:txBody>
      </p:sp>
      <p:sp>
        <p:nvSpPr>
          <p:cNvPr id="226" name="Google Shape;22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message: the EDA is not the final product. It gives us the basis for the next modeling phase.,The biggest immediate modeling decision is standardization before KNN because the features have different scales and spreads.,I would end here tomorrow and hand off to the next phase of the semester.</a:t>
            </a:r>
            <a:endParaRPr/>
          </a:p>
        </p:txBody>
      </p:sp>
      <p:sp>
        <p:nvSpPr>
          <p:cNvPr id="248" name="Google Shape;24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8F5"/>
        </a:solidFill>
      </p:bgPr>
    </p:bg>
    <p:spTree>
      <p:nvGrpSpPr>
        <p:cNvPr id="11" name="Shape 11"/>
        <p:cNvGrpSpPr/>
        <p:nvPr/>
      </p:nvGrpSpPr>
      <p:grpSpPr>
        <a:xfrm>
          <a:off x="0" y="0"/>
          <a:ext cx="0" cy="0"/>
          <a:chOff x="0" y="0"/>
          <a:chExt cx="0" cy="0"/>
        </a:xfrm>
      </p:grpSpPr>
      <p:sp>
        <p:nvSpPr>
          <p:cNvPr id="12" name="Google Shape;12;p2"/>
          <p:cNvSpPr/>
          <p:nvPr/>
        </p:nvSpPr>
        <p:spPr>
          <a:xfrm>
            <a:off x="0" y="0"/>
            <a:ext cx="12191695" cy="164592"/>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02920" y="6492240"/>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37E"/>
              </a:buClr>
              <a:buSzPts val="900"/>
              <a:buFont typeface="Arial"/>
              <a:buNone/>
            </a:pPr>
            <a:r>
              <a:rPr b="0" i="0" lang="en-US" sz="900" u="none" cap="none" strike="noStrike">
                <a:solidFill>
                  <a:srgbClr val="7C837E"/>
                </a:solidFill>
                <a:latin typeface="Arial"/>
                <a:ea typeface="Arial"/>
                <a:cs typeface="Arial"/>
                <a:sym typeface="Arial"/>
              </a:rPr>
              <a:t>MATH 573 • Statistical Consulting</a:t>
            </a:r>
            <a:endParaRPr b="0" i="0" sz="900" u="none" cap="none" strike="noStrike">
              <a:solidFill>
                <a:schemeClr val="dk1"/>
              </a:solidFill>
              <a:latin typeface="Arial"/>
              <a:ea typeface="Arial"/>
              <a:cs typeface="Arial"/>
              <a:sym typeface="Arial"/>
            </a:endParaRPr>
          </a:p>
        </p:txBody>
      </p:sp>
      <p:sp>
        <p:nvSpPr>
          <p:cNvPr id="14" name="Google Shape;14;p2"/>
          <p:cNvSpPr/>
          <p:nvPr/>
        </p:nvSpPr>
        <p:spPr>
          <a:xfrm>
            <a:off x="9646920" y="6492240"/>
            <a:ext cx="201168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C837E"/>
              </a:buClr>
              <a:buSzPts val="900"/>
              <a:buFont typeface="Arial"/>
              <a:buNone/>
            </a:pPr>
            <a:r>
              <a:rPr b="0" i="0" lang="en-US" sz="900" u="none" cap="none" strike="noStrike">
                <a:solidFill>
                  <a:srgbClr val="7C837E"/>
                </a:solidFill>
                <a:latin typeface="Arial"/>
                <a:ea typeface="Arial"/>
                <a:cs typeface="Arial"/>
                <a:sym typeface="Arial"/>
              </a:rPr>
              <a:t>Spotify 2023 EDA</a:t>
            </a:r>
            <a:endParaRPr b="0" i="0" sz="900" u="none" cap="none" strike="noStrike">
              <a:solidFill>
                <a:schemeClr val="dk1"/>
              </a:solidFill>
              <a:latin typeface="Arial"/>
              <a:ea typeface="Arial"/>
              <a:cs typeface="Arial"/>
              <a:sym typeface="Arial"/>
            </a:endParaRPr>
          </a:p>
        </p:txBody>
      </p:sp>
      <p:sp>
        <p:nvSpPr>
          <p:cNvPr id="15" name="Google Shape;15;p2"/>
          <p:cNvSpPr txBox="1"/>
          <p:nvPr>
            <p:ph idx="12"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900" u="none" cap="none" strike="noStrike">
                <a:solidFill>
                  <a:srgbClr val="7C837E"/>
                </a:solidFill>
                <a:latin typeface="Arial"/>
                <a:ea typeface="Arial"/>
                <a:cs typeface="Arial"/>
                <a:sym typeface="Arial"/>
              </a:defRPr>
            </a:lvl1pPr>
            <a:lvl2pPr indent="0" lvl="1" marL="0" marR="0" algn="l">
              <a:spcBef>
                <a:spcPts val="0"/>
              </a:spcBef>
              <a:buNone/>
              <a:defRPr b="0" i="0" sz="900" u="none" cap="none" strike="noStrike">
                <a:solidFill>
                  <a:srgbClr val="7C837E"/>
                </a:solidFill>
                <a:latin typeface="Arial"/>
                <a:ea typeface="Arial"/>
                <a:cs typeface="Arial"/>
                <a:sym typeface="Arial"/>
              </a:defRPr>
            </a:lvl2pPr>
            <a:lvl3pPr indent="0" lvl="2" marL="0" marR="0" algn="l">
              <a:spcBef>
                <a:spcPts val="0"/>
              </a:spcBef>
              <a:buNone/>
              <a:defRPr b="0" i="0" sz="900" u="none" cap="none" strike="noStrike">
                <a:solidFill>
                  <a:srgbClr val="7C837E"/>
                </a:solidFill>
                <a:latin typeface="Arial"/>
                <a:ea typeface="Arial"/>
                <a:cs typeface="Arial"/>
                <a:sym typeface="Arial"/>
              </a:defRPr>
            </a:lvl3pPr>
            <a:lvl4pPr indent="0" lvl="3" marL="0" marR="0" algn="l">
              <a:spcBef>
                <a:spcPts val="0"/>
              </a:spcBef>
              <a:buNone/>
              <a:defRPr b="0" i="0" sz="900" u="none" cap="none" strike="noStrike">
                <a:solidFill>
                  <a:srgbClr val="7C837E"/>
                </a:solidFill>
                <a:latin typeface="Arial"/>
                <a:ea typeface="Arial"/>
                <a:cs typeface="Arial"/>
                <a:sym typeface="Arial"/>
              </a:defRPr>
            </a:lvl4pPr>
            <a:lvl5pPr indent="0" lvl="4" marL="0" marR="0" algn="l">
              <a:spcBef>
                <a:spcPts val="0"/>
              </a:spcBef>
              <a:buNone/>
              <a:defRPr b="0" i="0" sz="900" u="none" cap="none" strike="noStrike">
                <a:solidFill>
                  <a:srgbClr val="7C837E"/>
                </a:solidFill>
                <a:latin typeface="Arial"/>
                <a:ea typeface="Arial"/>
                <a:cs typeface="Arial"/>
                <a:sym typeface="Arial"/>
              </a:defRPr>
            </a:lvl5pPr>
            <a:lvl6pPr indent="0" lvl="5" marL="0" marR="0" algn="l">
              <a:spcBef>
                <a:spcPts val="0"/>
              </a:spcBef>
              <a:buNone/>
              <a:defRPr b="0" i="0" sz="900" u="none" cap="none" strike="noStrike">
                <a:solidFill>
                  <a:srgbClr val="7C837E"/>
                </a:solidFill>
                <a:latin typeface="Arial"/>
                <a:ea typeface="Arial"/>
                <a:cs typeface="Arial"/>
                <a:sym typeface="Arial"/>
              </a:defRPr>
            </a:lvl6pPr>
            <a:lvl7pPr indent="0" lvl="6" marL="0" marR="0" algn="l">
              <a:spcBef>
                <a:spcPts val="0"/>
              </a:spcBef>
              <a:buNone/>
              <a:defRPr b="0" i="0" sz="900" u="none" cap="none" strike="noStrike">
                <a:solidFill>
                  <a:srgbClr val="7C837E"/>
                </a:solidFill>
                <a:latin typeface="Arial"/>
                <a:ea typeface="Arial"/>
                <a:cs typeface="Arial"/>
                <a:sym typeface="Arial"/>
              </a:defRPr>
            </a:lvl7pPr>
            <a:lvl8pPr indent="0" lvl="7" marL="0" marR="0" algn="l">
              <a:spcBef>
                <a:spcPts val="0"/>
              </a:spcBef>
              <a:buNone/>
              <a:defRPr b="0" i="0" sz="900" u="none" cap="none" strike="noStrike">
                <a:solidFill>
                  <a:srgbClr val="7C837E"/>
                </a:solidFill>
                <a:latin typeface="Arial"/>
                <a:ea typeface="Arial"/>
                <a:cs typeface="Arial"/>
                <a:sym typeface="Arial"/>
              </a:defRPr>
            </a:lvl8pPr>
            <a:lvl9pPr indent="0" lvl="8" marL="0" marR="0" algn="l">
              <a:spcBef>
                <a:spcPts val="0"/>
              </a:spcBef>
              <a:buNone/>
              <a:defRPr b="0" i="0" sz="900" u="none" cap="none" strike="noStrike">
                <a:solidFill>
                  <a:srgbClr val="7C837E"/>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900" u="none" cap="none" strike="noStrike">
                <a:solidFill>
                  <a:srgbClr val="7C837E"/>
                </a:solidFill>
                <a:latin typeface="Arial"/>
                <a:ea typeface="Arial"/>
                <a:cs typeface="Arial"/>
                <a:sym typeface="Arial"/>
              </a:defRPr>
            </a:lvl1pPr>
            <a:lvl2pPr indent="0" lvl="1" marL="0" marR="0" rtl="0" algn="l">
              <a:spcBef>
                <a:spcPts val="0"/>
              </a:spcBef>
              <a:buNone/>
              <a:defRPr b="0" i="0" sz="900" u="none" cap="none" strike="noStrike">
                <a:solidFill>
                  <a:srgbClr val="7C837E"/>
                </a:solidFill>
                <a:latin typeface="Arial"/>
                <a:ea typeface="Arial"/>
                <a:cs typeface="Arial"/>
                <a:sym typeface="Arial"/>
              </a:defRPr>
            </a:lvl2pPr>
            <a:lvl3pPr indent="0" lvl="2" marL="0" marR="0" rtl="0" algn="l">
              <a:spcBef>
                <a:spcPts val="0"/>
              </a:spcBef>
              <a:buNone/>
              <a:defRPr b="0" i="0" sz="900" u="none" cap="none" strike="noStrike">
                <a:solidFill>
                  <a:srgbClr val="7C837E"/>
                </a:solidFill>
                <a:latin typeface="Arial"/>
                <a:ea typeface="Arial"/>
                <a:cs typeface="Arial"/>
                <a:sym typeface="Arial"/>
              </a:defRPr>
            </a:lvl3pPr>
            <a:lvl4pPr indent="0" lvl="3" marL="0" marR="0" rtl="0" algn="l">
              <a:spcBef>
                <a:spcPts val="0"/>
              </a:spcBef>
              <a:buNone/>
              <a:defRPr b="0" i="0" sz="900" u="none" cap="none" strike="noStrike">
                <a:solidFill>
                  <a:srgbClr val="7C837E"/>
                </a:solidFill>
                <a:latin typeface="Arial"/>
                <a:ea typeface="Arial"/>
                <a:cs typeface="Arial"/>
                <a:sym typeface="Arial"/>
              </a:defRPr>
            </a:lvl4pPr>
            <a:lvl5pPr indent="0" lvl="4" marL="0" marR="0" rtl="0" algn="l">
              <a:spcBef>
                <a:spcPts val="0"/>
              </a:spcBef>
              <a:buNone/>
              <a:defRPr b="0" i="0" sz="900" u="none" cap="none" strike="noStrike">
                <a:solidFill>
                  <a:srgbClr val="7C837E"/>
                </a:solidFill>
                <a:latin typeface="Arial"/>
                <a:ea typeface="Arial"/>
                <a:cs typeface="Arial"/>
                <a:sym typeface="Arial"/>
              </a:defRPr>
            </a:lvl5pPr>
            <a:lvl6pPr indent="0" lvl="5" marL="0" marR="0" rtl="0" algn="l">
              <a:spcBef>
                <a:spcPts val="0"/>
              </a:spcBef>
              <a:buNone/>
              <a:defRPr b="0" i="0" sz="900" u="none" cap="none" strike="noStrike">
                <a:solidFill>
                  <a:srgbClr val="7C837E"/>
                </a:solidFill>
                <a:latin typeface="Arial"/>
                <a:ea typeface="Arial"/>
                <a:cs typeface="Arial"/>
                <a:sym typeface="Arial"/>
              </a:defRPr>
            </a:lvl6pPr>
            <a:lvl7pPr indent="0" lvl="6" marL="0" marR="0" rtl="0" algn="l">
              <a:spcBef>
                <a:spcPts val="0"/>
              </a:spcBef>
              <a:buNone/>
              <a:defRPr b="0" i="0" sz="900" u="none" cap="none" strike="noStrike">
                <a:solidFill>
                  <a:srgbClr val="7C837E"/>
                </a:solidFill>
                <a:latin typeface="Arial"/>
                <a:ea typeface="Arial"/>
                <a:cs typeface="Arial"/>
                <a:sym typeface="Arial"/>
              </a:defRPr>
            </a:lvl7pPr>
            <a:lvl8pPr indent="0" lvl="7" marL="0" marR="0" rtl="0" algn="l">
              <a:spcBef>
                <a:spcPts val="0"/>
              </a:spcBef>
              <a:buNone/>
              <a:defRPr b="0" i="0" sz="900" u="none" cap="none" strike="noStrike">
                <a:solidFill>
                  <a:srgbClr val="7C837E"/>
                </a:solidFill>
                <a:latin typeface="Arial"/>
                <a:ea typeface="Arial"/>
                <a:cs typeface="Arial"/>
                <a:sym typeface="Arial"/>
              </a:defRPr>
            </a:lvl8pPr>
            <a:lvl9pPr indent="0" lvl="8" marL="0" marR="0" rtl="0" algn="l">
              <a:spcBef>
                <a:spcPts val="0"/>
              </a:spcBef>
              <a:buNone/>
              <a:defRPr b="0" i="0" sz="900" u="none" cap="none" strike="noStrike">
                <a:solidFill>
                  <a:srgbClr val="7C837E"/>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0.png"/><Relationship Id="rId10" Type="http://schemas.openxmlformats.org/officeDocument/2006/relationships/image" Target="../media/image6.png"/><Relationship Id="rId9"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1.png"/><Relationship Id="rId7" Type="http://schemas.openxmlformats.org/officeDocument/2006/relationships/image" Target="../media/image19.png"/><Relationship Id="rId8"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5.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512"/>
        </a:solidFill>
      </p:bgPr>
    </p:bg>
    <p:spTree>
      <p:nvGrpSpPr>
        <p:cNvPr id="21" name="Shape 21"/>
        <p:cNvGrpSpPr/>
        <p:nvPr/>
      </p:nvGrpSpPr>
      <p:grpSpPr>
        <a:xfrm>
          <a:off x="0" y="0"/>
          <a:ext cx="0" cy="0"/>
          <a:chOff x="0" y="0"/>
          <a:chExt cx="0" cy="0"/>
        </a:xfrm>
      </p:grpSpPr>
      <p:sp>
        <p:nvSpPr>
          <p:cNvPr id="22" name="Google Shape;22;p4"/>
          <p:cNvSpPr/>
          <p:nvPr/>
        </p:nvSpPr>
        <p:spPr>
          <a:xfrm>
            <a:off x="0" y="0"/>
            <a:ext cx="12191695" cy="6858000"/>
          </a:xfrm>
          <a:prstGeom prst="rect">
            <a:avLst/>
          </a:prstGeom>
          <a:solidFill>
            <a:srgbClr val="101512"/>
          </a:solidFill>
          <a:ln cap="flat" cmpd="sng" w="12700">
            <a:solidFill>
              <a:srgbClr val="1015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0" y="0"/>
            <a:ext cx="164592" cy="6858000"/>
          </a:xfrm>
          <a:prstGeom prst="rect">
            <a:avLst/>
          </a:prstGeom>
          <a:solidFill>
            <a:srgbClr val="1DB954"/>
          </a:solidFill>
          <a:ln cap="flat" cmpd="sng" w="12700">
            <a:solidFill>
              <a:srgbClr val="1DB9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822960" y="1097280"/>
            <a:ext cx="804672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Play"/>
              <a:buNone/>
            </a:pPr>
            <a:r>
              <a:rPr b="1" i="0" lang="en-US" sz="3200" u="none" cap="none" strike="noStrike">
                <a:solidFill>
                  <a:srgbClr val="FFFFFF"/>
                </a:solidFill>
                <a:latin typeface="Play"/>
                <a:ea typeface="Play"/>
                <a:cs typeface="Play"/>
                <a:sym typeface="Play"/>
              </a:rPr>
              <a:t>Spotify Content-Based</a:t>
            </a:r>
            <a:endParaRPr b="0" i="0" sz="3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3200"/>
              <a:buFont typeface="Play"/>
              <a:buNone/>
            </a:pPr>
            <a:r>
              <a:rPr b="1" i="0" lang="en-US" sz="3200" u="none" cap="none" strike="noStrike">
                <a:solidFill>
                  <a:srgbClr val="FFFFFF"/>
                </a:solidFill>
                <a:latin typeface="Play"/>
                <a:ea typeface="Play"/>
                <a:cs typeface="Play"/>
                <a:sym typeface="Play"/>
              </a:rPr>
              <a:t>Music Recommendation System</a:t>
            </a:r>
            <a:endParaRPr b="0" i="0" sz="3200" u="none" cap="none" strike="noStrike">
              <a:solidFill>
                <a:schemeClr val="dk1"/>
              </a:solidFill>
              <a:latin typeface="Arial"/>
              <a:ea typeface="Arial"/>
              <a:cs typeface="Arial"/>
              <a:sym typeface="Arial"/>
            </a:endParaRPr>
          </a:p>
        </p:txBody>
      </p:sp>
      <p:sp>
        <p:nvSpPr>
          <p:cNvPr id="25" name="Google Shape;25;p4"/>
          <p:cNvSpPr/>
          <p:nvPr/>
        </p:nvSpPr>
        <p:spPr>
          <a:xfrm>
            <a:off x="841248" y="2788920"/>
            <a:ext cx="76809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0CA"/>
              </a:buClr>
              <a:buSzPts val="1800"/>
              <a:buFont typeface="Arial"/>
              <a:buNone/>
            </a:pPr>
            <a:r>
              <a:rPr b="0" i="0" lang="en-US" sz="1800" u="none" cap="none" strike="noStrike">
                <a:solidFill>
                  <a:srgbClr val="C7D0CA"/>
                </a:solidFill>
                <a:latin typeface="Arial"/>
                <a:ea typeface="Arial"/>
                <a:cs typeface="Arial"/>
                <a:sym typeface="Arial"/>
              </a:rPr>
              <a:t>Exploratory Data Analysis of the Spotify 2023 Dataset</a:t>
            </a:r>
            <a:endParaRPr b="0" i="0" sz="1800" u="none" cap="none" strike="noStrike">
              <a:solidFill>
                <a:schemeClr val="dk1"/>
              </a:solidFill>
              <a:latin typeface="Arial"/>
              <a:ea typeface="Arial"/>
              <a:cs typeface="Arial"/>
              <a:sym typeface="Arial"/>
            </a:endParaRPr>
          </a:p>
        </p:txBody>
      </p:sp>
      <p:sp>
        <p:nvSpPr>
          <p:cNvPr id="26" name="Google Shape;26;p4"/>
          <p:cNvSpPr/>
          <p:nvPr/>
        </p:nvSpPr>
        <p:spPr>
          <a:xfrm>
            <a:off x="841248" y="3520440"/>
            <a:ext cx="8503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B0AA"/>
              </a:buClr>
              <a:buSzPts val="1600"/>
              <a:buFont typeface="Arial"/>
              <a:buNone/>
            </a:pPr>
            <a:r>
              <a:rPr b="0" i="1" lang="en-US" sz="1600" u="none" cap="none" strike="noStrike">
                <a:solidFill>
                  <a:srgbClr val="A7B0AA"/>
                </a:solidFill>
                <a:latin typeface="Arial"/>
                <a:ea typeface="Arial"/>
                <a:cs typeface="Arial"/>
                <a:sym typeface="Arial"/>
              </a:rPr>
              <a:t>What does the audio-feature space look like before we measure song similarity?</a:t>
            </a:r>
            <a:endParaRPr b="0" i="0" sz="1600" u="none" cap="none" strike="noStrike">
              <a:solidFill>
                <a:schemeClr val="dk1"/>
              </a:solidFill>
              <a:latin typeface="Arial"/>
              <a:ea typeface="Arial"/>
              <a:cs typeface="Arial"/>
              <a:sym typeface="Arial"/>
            </a:endParaRPr>
          </a:p>
        </p:txBody>
      </p:sp>
      <p:sp>
        <p:nvSpPr>
          <p:cNvPr id="27" name="Google Shape;27;p4"/>
          <p:cNvSpPr/>
          <p:nvPr/>
        </p:nvSpPr>
        <p:spPr>
          <a:xfrm>
            <a:off x="8869680" y="1143000"/>
            <a:ext cx="2286000" cy="2286000"/>
          </a:xfrm>
          <a:prstGeom prst="roundRect">
            <a:avLst>
              <a:gd fmla="val 6000" name="adj"/>
            </a:avLst>
          </a:prstGeom>
          <a:solidFill>
            <a:srgbClr val="17201A"/>
          </a:solidFill>
          <a:ln cap="flat" cmpd="sng" w="12700">
            <a:solidFill>
              <a:srgbClr val="2E3B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8869680" y="1572768"/>
            <a:ext cx="22860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4000"/>
              <a:buFont typeface="Arial"/>
              <a:buNone/>
            </a:pPr>
            <a:r>
              <a:rPr b="1" i="0" lang="en-US" sz="4000" u="none" cap="none" strike="noStrike">
                <a:solidFill>
                  <a:srgbClr val="1DB954"/>
                </a:solidFill>
                <a:latin typeface="Arial"/>
                <a:ea typeface="Arial"/>
                <a:cs typeface="Arial"/>
                <a:sym typeface="Arial"/>
              </a:rPr>
              <a:t>953</a:t>
            </a:r>
            <a:endParaRPr b="0" i="0" sz="4000" u="none" cap="none" strike="noStrike">
              <a:solidFill>
                <a:schemeClr val="dk1"/>
              </a:solidFill>
              <a:latin typeface="Arial"/>
              <a:ea typeface="Arial"/>
              <a:cs typeface="Arial"/>
              <a:sym typeface="Arial"/>
            </a:endParaRPr>
          </a:p>
        </p:txBody>
      </p:sp>
      <p:sp>
        <p:nvSpPr>
          <p:cNvPr id="29" name="Google Shape;29;p4"/>
          <p:cNvSpPr/>
          <p:nvPr/>
        </p:nvSpPr>
        <p:spPr>
          <a:xfrm>
            <a:off x="8869680" y="2286000"/>
            <a:ext cx="2286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songs</a:t>
            </a:r>
            <a:endParaRPr b="0" i="0" sz="1600" u="none" cap="none" strike="noStrike">
              <a:solidFill>
                <a:schemeClr val="dk1"/>
              </a:solidFill>
              <a:latin typeface="Arial"/>
              <a:ea typeface="Arial"/>
              <a:cs typeface="Arial"/>
              <a:sym typeface="Arial"/>
            </a:endParaRPr>
          </a:p>
        </p:txBody>
      </p:sp>
      <p:sp>
        <p:nvSpPr>
          <p:cNvPr id="30" name="Google Shape;30;p4"/>
          <p:cNvSpPr/>
          <p:nvPr/>
        </p:nvSpPr>
        <p:spPr>
          <a:xfrm>
            <a:off x="8869680" y="2743200"/>
            <a:ext cx="2286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CA"/>
              </a:buClr>
              <a:buSzPts val="1300"/>
              <a:buFont typeface="Arial"/>
              <a:buNone/>
            </a:pPr>
            <a:r>
              <a:rPr b="0" i="0" lang="en-US" sz="1300" u="none" cap="none" strike="noStrike">
                <a:solidFill>
                  <a:srgbClr val="C7D0CA"/>
                </a:solidFill>
                <a:latin typeface="Arial"/>
                <a:ea typeface="Arial"/>
                <a:cs typeface="Arial"/>
                <a:sym typeface="Arial"/>
              </a:rPr>
              <a:t>8 audio features</a:t>
            </a:r>
            <a:endParaRPr b="0" i="0" sz="1300" u="none" cap="none" strike="noStrike">
              <a:solidFill>
                <a:schemeClr val="dk1"/>
              </a:solidFill>
              <a:latin typeface="Arial"/>
              <a:ea typeface="Arial"/>
              <a:cs typeface="Arial"/>
              <a:sym typeface="Arial"/>
            </a:endParaRPr>
          </a:p>
        </p:txBody>
      </p:sp>
      <p:sp>
        <p:nvSpPr>
          <p:cNvPr id="31" name="Google Shape;31;p4"/>
          <p:cNvSpPr/>
          <p:nvPr/>
        </p:nvSpPr>
        <p:spPr>
          <a:xfrm>
            <a:off x="868680" y="5989320"/>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DA79F"/>
              </a:buClr>
              <a:buSzPts val="1300"/>
              <a:buFont typeface="Arial"/>
              <a:buNone/>
            </a:pPr>
            <a:r>
              <a:rPr b="0" i="0" lang="en-US" sz="1300" u="none" cap="none" strike="noStrike">
                <a:solidFill>
                  <a:srgbClr val="9DA79F"/>
                </a:solidFill>
                <a:latin typeface="Arial"/>
                <a:ea typeface="Arial"/>
                <a:cs typeface="Arial"/>
                <a:sym typeface="Arial"/>
              </a:rPr>
              <a:t>Priscilla Yinzime </a:t>
            </a:r>
            <a:r>
              <a:rPr lang="en-US" sz="1300">
                <a:solidFill>
                  <a:srgbClr val="9DA79F"/>
                </a:solidFill>
              </a:rPr>
              <a:t>,Megan Millet,Carson Vrba,Gbenga Solomon</a:t>
            </a:r>
            <a:endParaRPr b="0" i="0" sz="1300" u="none" cap="none" strike="noStrike">
              <a:solidFill>
                <a:schemeClr val="dk1"/>
              </a:solidFill>
              <a:latin typeface="Arial"/>
              <a:ea typeface="Arial"/>
              <a:cs typeface="Arial"/>
              <a:sym typeface="Arial"/>
            </a:endParaRPr>
          </a:p>
        </p:txBody>
      </p:sp>
      <p:sp>
        <p:nvSpPr>
          <p:cNvPr id="32" name="Google Shape;32;p4"/>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5"/>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Why EDA comes before the recommender</a:t>
            </a:r>
            <a:endParaRPr b="0" i="0" sz="2700" u="none" cap="none" strike="noStrike">
              <a:solidFill>
                <a:schemeClr val="dk1"/>
              </a:solidFill>
              <a:latin typeface="Arial"/>
              <a:ea typeface="Arial"/>
              <a:cs typeface="Arial"/>
              <a:sym typeface="Arial"/>
            </a:endParaRPr>
          </a:p>
        </p:txBody>
      </p:sp>
      <p:sp>
        <p:nvSpPr>
          <p:cNvPr id="39" name="Google Shape;39;p5"/>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We first need to understand the variables that will define “similarity” between songs.</a:t>
            </a:r>
            <a:endParaRPr b="0" i="0" sz="1350" u="none" cap="none" strike="noStrike">
              <a:solidFill>
                <a:schemeClr val="dk1"/>
              </a:solidFill>
              <a:latin typeface="Arial"/>
              <a:ea typeface="Arial"/>
              <a:cs typeface="Arial"/>
              <a:sym typeface="Arial"/>
            </a:endParaRPr>
          </a:p>
        </p:txBody>
      </p:sp>
      <p:sp>
        <p:nvSpPr>
          <p:cNvPr id="40" name="Google Shape;40;p5"/>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GOAL</a:t>
            </a:r>
            <a:endParaRPr b="0" i="0" sz="900" u="none" cap="none" strike="noStrike">
              <a:solidFill>
                <a:schemeClr val="dk1"/>
              </a:solidFill>
              <a:latin typeface="Arial"/>
              <a:ea typeface="Arial"/>
              <a:cs typeface="Arial"/>
              <a:sym typeface="Arial"/>
            </a:endParaRPr>
          </a:p>
        </p:txBody>
      </p:sp>
      <p:sp>
        <p:nvSpPr>
          <p:cNvPr id="42" name="Google Shape;42;p5"/>
          <p:cNvSpPr/>
          <p:nvPr/>
        </p:nvSpPr>
        <p:spPr>
          <a:xfrm>
            <a:off x="685800" y="1508760"/>
            <a:ext cx="3246120" cy="3474720"/>
          </a:xfrm>
          <a:prstGeom prst="roundRect">
            <a:avLst>
              <a:gd fmla="val 1972"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850392" y="164592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1. Data quality</a:t>
            </a:r>
            <a:endParaRPr b="0" i="0" sz="1350" u="none" cap="none" strike="noStrike">
              <a:solidFill>
                <a:schemeClr val="dk1"/>
              </a:solidFill>
              <a:latin typeface="Arial"/>
              <a:ea typeface="Arial"/>
              <a:cs typeface="Arial"/>
              <a:sym typeface="Arial"/>
            </a:endParaRPr>
          </a:p>
        </p:txBody>
      </p:sp>
      <p:sp>
        <p:nvSpPr>
          <p:cNvPr id="44" name="Google Shape;44;p5"/>
          <p:cNvSpPr/>
          <p:nvPr/>
        </p:nvSpPr>
        <p:spPr>
          <a:xfrm>
            <a:off x="850392" y="1965960"/>
            <a:ext cx="2916936" cy="290779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Are the audio features complete? Are values valid? Are there duplicate song records that could contaminate recommendations?</a:t>
            </a:r>
            <a:endParaRPr b="0" i="0" sz="1120" u="none" cap="none" strike="noStrike">
              <a:solidFill>
                <a:schemeClr val="dk1"/>
              </a:solidFill>
              <a:latin typeface="Arial"/>
              <a:ea typeface="Arial"/>
              <a:cs typeface="Arial"/>
              <a:sym typeface="Arial"/>
            </a:endParaRPr>
          </a:p>
        </p:txBody>
      </p:sp>
      <p:sp>
        <p:nvSpPr>
          <p:cNvPr id="45" name="Google Shape;45;p5"/>
          <p:cNvSpPr/>
          <p:nvPr/>
        </p:nvSpPr>
        <p:spPr>
          <a:xfrm>
            <a:off x="4160520" y="1508760"/>
            <a:ext cx="3246120" cy="3474720"/>
          </a:xfrm>
          <a:prstGeom prst="roundRect">
            <a:avLst>
              <a:gd fmla="val 1972"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4325112" y="164592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2. Feature behavior</a:t>
            </a:r>
            <a:endParaRPr b="0" i="0" sz="1350" u="none" cap="none" strike="noStrike">
              <a:solidFill>
                <a:schemeClr val="dk1"/>
              </a:solidFill>
              <a:latin typeface="Arial"/>
              <a:ea typeface="Arial"/>
              <a:cs typeface="Arial"/>
              <a:sym typeface="Arial"/>
            </a:endParaRPr>
          </a:p>
        </p:txBody>
      </p:sp>
      <p:sp>
        <p:nvSpPr>
          <p:cNvPr id="47" name="Google Shape;47;p5"/>
          <p:cNvSpPr/>
          <p:nvPr/>
        </p:nvSpPr>
        <p:spPr>
          <a:xfrm>
            <a:off x="4325112" y="1965960"/>
            <a:ext cx="2916936" cy="290779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What do BPM, danceability, energy, valence, acousticness, instrumentalness, liveness and speechiness actually look like?</a:t>
            </a:r>
            <a:endParaRPr b="0" i="0" sz="1120" u="none" cap="none" strike="noStrike">
              <a:solidFill>
                <a:schemeClr val="dk1"/>
              </a:solidFill>
              <a:latin typeface="Arial"/>
              <a:ea typeface="Arial"/>
              <a:cs typeface="Arial"/>
              <a:sym typeface="Arial"/>
            </a:endParaRPr>
          </a:p>
        </p:txBody>
      </p:sp>
      <p:sp>
        <p:nvSpPr>
          <p:cNvPr id="48" name="Google Shape;48;p5"/>
          <p:cNvSpPr/>
          <p:nvPr/>
        </p:nvSpPr>
        <p:spPr>
          <a:xfrm>
            <a:off x="7635240" y="1508760"/>
            <a:ext cx="3246120" cy="3474720"/>
          </a:xfrm>
          <a:prstGeom prst="roundRect">
            <a:avLst>
              <a:gd fmla="val 1972"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7799832" y="164592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3. Feature relationships</a:t>
            </a:r>
            <a:endParaRPr b="0" i="0" sz="1350" u="none" cap="none" strike="noStrike">
              <a:solidFill>
                <a:schemeClr val="dk1"/>
              </a:solidFill>
              <a:latin typeface="Arial"/>
              <a:ea typeface="Arial"/>
              <a:cs typeface="Arial"/>
              <a:sym typeface="Arial"/>
            </a:endParaRPr>
          </a:p>
        </p:txBody>
      </p:sp>
      <p:sp>
        <p:nvSpPr>
          <p:cNvPr id="50" name="Google Shape;50;p5"/>
          <p:cNvSpPr/>
          <p:nvPr/>
        </p:nvSpPr>
        <p:spPr>
          <a:xfrm>
            <a:off x="7799832" y="1965960"/>
            <a:ext cx="2916936" cy="290779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Are any variables almost duplicates of one another? Which musical characteristics tend to move together?</a:t>
            </a:r>
            <a:endParaRPr b="0" i="0" sz="1120" u="none" cap="none" strike="noStrike">
              <a:solidFill>
                <a:schemeClr val="dk1"/>
              </a:solidFill>
              <a:latin typeface="Arial"/>
              <a:ea typeface="Arial"/>
              <a:cs typeface="Arial"/>
              <a:sym typeface="Arial"/>
            </a:endParaRPr>
          </a:p>
        </p:txBody>
      </p:sp>
      <p:sp>
        <p:nvSpPr>
          <p:cNvPr id="51" name="Google Shape;51;p5"/>
          <p:cNvSpPr/>
          <p:nvPr/>
        </p:nvSpPr>
        <p:spPr>
          <a:xfrm>
            <a:off x="3337560" y="5440680"/>
            <a:ext cx="5486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1900"/>
              <a:buFont typeface="Arial"/>
              <a:buNone/>
            </a:pPr>
            <a:r>
              <a:rPr b="1" i="0" lang="en-US" sz="1900" u="none" cap="none" strike="noStrike">
                <a:solidFill>
                  <a:srgbClr val="1DB954"/>
                </a:solidFill>
                <a:latin typeface="Arial"/>
                <a:ea typeface="Arial"/>
                <a:cs typeface="Arial"/>
                <a:sym typeface="Arial"/>
              </a:rPr>
              <a:t>EDA → preprocessing decisions → similarity model</a:t>
            </a:r>
            <a:endParaRPr b="0" i="0" sz="1900" u="none" cap="none" strike="noStrike">
              <a:solidFill>
                <a:schemeClr val="dk1"/>
              </a:solidFill>
              <a:latin typeface="Arial"/>
              <a:ea typeface="Arial"/>
              <a:cs typeface="Arial"/>
              <a:sym typeface="Arial"/>
            </a:endParaRPr>
          </a:p>
        </p:txBody>
      </p:sp>
      <p:sp>
        <p:nvSpPr>
          <p:cNvPr id="52" name="Google Shape;52;p5"/>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6"/>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Dataset snapshot</a:t>
            </a:r>
            <a:endParaRPr b="0" i="0" sz="2700" u="none" cap="none" strike="noStrike">
              <a:solidFill>
                <a:schemeClr val="dk1"/>
              </a:solidFill>
              <a:latin typeface="Arial"/>
              <a:ea typeface="Arial"/>
              <a:cs typeface="Arial"/>
              <a:sym typeface="Arial"/>
            </a:endParaRPr>
          </a:p>
        </p:txBody>
      </p:sp>
      <p:sp>
        <p:nvSpPr>
          <p:cNvPr id="59" name="Google Shape;59;p6"/>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Spotify 2023 provides a compact catalog with complete numerical audio features.</a:t>
            </a:r>
            <a:endParaRPr b="0" i="0" sz="1350" u="none" cap="none" strike="noStrike">
              <a:solidFill>
                <a:schemeClr val="dk1"/>
              </a:solidFill>
              <a:latin typeface="Arial"/>
              <a:ea typeface="Arial"/>
              <a:cs typeface="Arial"/>
              <a:sym typeface="Arial"/>
            </a:endParaRPr>
          </a:p>
        </p:txBody>
      </p:sp>
      <p:sp>
        <p:nvSpPr>
          <p:cNvPr id="60" name="Google Shape;60;p6"/>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DATA</a:t>
            </a:r>
            <a:endParaRPr b="0" i="0" sz="900" u="none" cap="none" strike="noStrike">
              <a:solidFill>
                <a:schemeClr val="dk1"/>
              </a:solidFill>
              <a:latin typeface="Arial"/>
              <a:ea typeface="Arial"/>
              <a:cs typeface="Arial"/>
              <a:sym typeface="Arial"/>
            </a:endParaRPr>
          </a:p>
        </p:txBody>
      </p:sp>
      <p:sp>
        <p:nvSpPr>
          <p:cNvPr id="62" name="Google Shape;62;p6"/>
          <p:cNvSpPr/>
          <p:nvPr/>
        </p:nvSpPr>
        <p:spPr>
          <a:xfrm>
            <a:off x="777240" y="1417320"/>
            <a:ext cx="3017520" cy="1234440"/>
          </a:xfrm>
          <a:prstGeom prst="roundRect">
            <a:avLst>
              <a:gd fmla="val 5926"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777240" y="1673352"/>
            <a:ext cx="30175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3200"/>
              <a:buFont typeface="Arial"/>
              <a:buNone/>
            </a:pPr>
            <a:r>
              <a:rPr b="1" i="0" lang="en-US" sz="3200" u="none" cap="none" strike="noStrike">
                <a:solidFill>
                  <a:srgbClr val="1DB954"/>
                </a:solidFill>
                <a:latin typeface="Arial"/>
                <a:ea typeface="Arial"/>
                <a:cs typeface="Arial"/>
                <a:sym typeface="Arial"/>
              </a:rPr>
              <a:t>953</a:t>
            </a:r>
            <a:endParaRPr b="0" i="0" sz="3200" u="none" cap="none" strike="noStrike">
              <a:solidFill>
                <a:schemeClr val="dk1"/>
              </a:solidFill>
              <a:latin typeface="Arial"/>
              <a:ea typeface="Arial"/>
              <a:cs typeface="Arial"/>
              <a:sym typeface="Arial"/>
            </a:endParaRPr>
          </a:p>
        </p:txBody>
      </p:sp>
      <p:sp>
        <p:nvSpPr>
          <p:cNvPr id="64" name="Google Shape;64;p6"/>
          <p:cNvSpPr/>
          <p:nvPr/>
        </p:nvSpPr>
        <p:spPr>
          <a:xfrm>
            <a:off x="777240" y="2221992"/>
            <a:ext cx="3017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61"/>
              </a:buClr>
              <a:buSzPts val="1300"/>
              <a:buFont typeface="Arial"/>
              <a:buNone/>
            </a:pPr>
            <a:r>
              <a:rPr b="0" i="0" lang="en-US" sz="1300" u="none" cap="none" strike="noStrike">
                <a:solidFill>
                  <a:srgbClr val="5E6661"/>
                </a:solidFill>
                <a:latin typeface="Arial"/>
                <a:ea typeface="Arial"/>
                <a:cs typeface="Arial"/>
                <a:sym typeface="Arial"/>
              </a:rPr>
              <a:t>songs</a:t>
            </a:r>
            <a:endParaRPr b="0" i="0" sz="1300" u="none" cap="none" strike="noStrike">
              <a:solidFill>
                <a:schemeClr val="dk1"/>
              </a:solidFill>
              <a:latin typeface="Arial"/>
              <a:ea typeface="Arial"/>
              <a:cs typeface="Arial"/>
              <a:sym typeface="Arial"/>
            </a:endParaRPr>
          </a:p>
        </p:txBody>
      </p:sp>
      <p:sp>
        <p:nvSpPr>
          <p:cNvPr id="65" name="Google Shape;65;p6"/>
          <p:cNvSpPr/>
          <p:nvPr/>
        </p:nvSpPr>
        <p:spPr>
          <a:xfrm>
            <a:off x="4480560" y="1417320"/>
            <a:ext cx="3017520" cy="1234440"/>
          </a:xfrm>
          <a:prstGeom prst="roundRect">
            <a:avLst>
              <a:gd fmla="val 5926"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4480560" y="1673352"/>
            <a:ext cx="30175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3200"/>
              <a:buFont typeface="Arial"/>
              <a:buNone/>
            </a:pPr>
            <a:r>
              <a:rPr b="1" i="0" lang="en-US" sz="3200" u="none" cap="none" strike="noStrike">
                <a:solidFill>
                  <a:srgbClr val="1DB954"/>
                </a:solidFill>
                <a:latin typeface="Arial"/>
                <a:ea typeface="Arial"/>
                <a:cs typeface="Arial"/>
                <a:sym typeface="Arial"/>
              </a:rPr>
              <a:t>24</a:t>
            </a:r>
            <a:endParaRPr b="0" i="0" sz="3200" u="none" cap="none" strike="noStrike">
              <a:solidFill>
                <a:schemeClr val="dk1"/>
              </a:solidFill>
              <a:latin typeface="Arial"/>
              <a:ea typeface="Arial"/>
              <a:cs typeface="Arial"/>
              <a:sym typeface="Arial"/>
            </a:endParaRPr>
          </a:p>
        </p:txBody>
      </p:sp>
      <p:sp>
        <p:nvSpPr>
          <p:cNvPr id="67" name="Google Shape;67;p6"/>
          <p:cNvSpPr/>
          <p:nvPr/>
        </p:nvSpPr>
        <p:spPr>
          <a:xfrm>
            <a:off x="4480560" y="2221992"/>
            <a:ext cx="3017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61"/>
              </a:buClr>
              <a:buSzPts val="1300"/>
              <a:buFont typeface="Arial"/>
              <a:buNone/>
            </a:pPr>
            <a:r>
              <a:rPr b="0" i="0" lang="en-US" sz="1300" u="none" cap="none" strike="noStrike">
                <a:solidFill>
                  <a:srgbClr val="5E6661"/>
                </a:solidFill>
                <a:latin typeface="Arial"/>
                <a:ea typeface="Arial"/>
                <a:cs typeface="Arial"/>
                <a:sym typeface="Arial"/>
              </a:rPr>
              <a:t>variables</a:t>
            </a:r>
            <a:endParaRPr b="0" i="0" sz="1300" u="none" cap="none" strike="noStrike">
              <a:solidFill>
                <a:schemeClr val="dk1"/>
              </a:solidFill>
              <a:latin typeface="Arial"/>
              <a:ea typeface="Arial"/>
              <a:cs typeface="Arial"/>
              <a:sym typeface="Arial"/>
            </a:endParaRPr>
          </a:p>
        </p:txBody>
      </p:sp>
      <p:sp>
        <p:nvSpPr>
          <p:cNvPr id="68" name="Google Shape;68;p6"/>
          <p:cNvSpPr/>
          <p:nvPr/>
        </p:nvSpPr>
        <p:spPr>
          <a:xfrm>
            <a:off x="8183880" y="1417320"/>
            <a:ext cx="3017520" cy="1234440"/>
          </a:xfrm>
          <a:prstGeom prst="roundRect">
            <a:avLst>
              <a:gd fmla="val 5926"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8183880" y="1673352"/>
            <a:ext cx="30175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3200"/>
              <a:buFont typeface="Arial"/>
              <a:buNone/>
            </a:pPr>
            <a:r>
              <a:rPr b="1" i="0" lang="en-US" sz="3200" u="none" cap="none" strike="noStrike">
                <a:solidFill>
                  <a:srgbClr val="1DB954"/>
                </a:solidFill>
                <a:latin typeface="Arial"/>
                <a:ea typeface="Arial"/>
                <a:cs typeface="Arial"/>
                <a:sym typeface="Arial"/>
              </a:rPr>
              <a:t>8</a:t>
            </a:r>
            <a:endParaRPr b="0" i="0" sz="3200" u="none" cap="none" strike="noStrike">
              <a:solidFill>
                <a:schemeClr val="dk1"/>
              </a:solidFill>
              <a:latin typeface="Arial"/>
              <a:ea typeface="Arial"/>
              <a:cs typeface="Arial"/>
              <a:sym typeface="Arial"/>
            </a:endParaRPr>
          </a:p>
        </p:txBody>
      </p:sp>
      <p:sp>
        <p:nvSpPr>
          <p:cNvPr id="70" name="Google Shape;70;p6"/>
          <p:cNvSpPr/>
          <p:nvPr/>
        </p:nvSpPr>
        <p:spPr>
          <a:xfrm>
            <a:off x="8183880" y="2221992"/>
            <a:ext cx="3017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61"/>
              </a:buClr>
              <a:buSzPts val="1300"/>
              <a:buFont typeface="Arial"/>
              <a:buNone/>
            </a:pPr>
            <a:r>
              <a:rPr b="0" i="0" lang="en-US" sz="1300" u="none" cap="none" strike="noStrike">
                <a:solidFill>
                  <a:srgbClr val="5E6661"/>
                </a:solidFill>
                <a:latin typeface="Arial"/>
                <a:ea typeface="Arial"/>
                <a:cs typeface="Arial"/>
                <a:sym typeface="Arial"/>
              </a:rPr>
              <a:t>audio features</a:t>
            </a:r>
            <a:endParaRPr b="0" i="0" sz="1300" u="none" cap="none" strike="noStrike">
              <a:solidFill>
                <a:schemeClr val="dk1"/>
              </a:solidFill>
              <a:latin typeface="Arial"/>
              <a:ea typeface="Arial"/>
              <a:cs typeface="Arial"/>
              <a:sym typeface="Arial"/>
            </a:endParaRPr>
          </a:p>
        </p:txBody>
      </p:sp>
      <p:sp>
        <p:nvSpPr>
          <p:cNvPr id="71" name="Google Shape;71;p6"/>
          <p:cNvSpPr/>
          <p:nvPr/>
        </p:nvSpPr>
        <p:spPr>
          <a:xfrm>
            <a:off x="868680" y="3246120"/>
            <a:ext cx="2377440" cy="621792"/>
          </a:xfrm>
          <a:prstGeom prst="roundRect">
            <a:avLst>
              <a:gd fmla="val 8824"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960120" y="3429000"/>
            <a:ext cx="21945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BPM</a:t>
            </a:r>
            <a:endParaRPr b="0" i="0" sz="1250" u="none" cap="none" strike="noStrike">
              <a:solidFill>
                <a:schemeClr val="dk1"/>
              </a:solidFill>
              <a:latin typeface="Arial"/>
              <a:ea typeface="Arial"/>
              <a:cs typeface="Arial"/>
              <a:sym typeface="Arial"/>
            </a:endParaRPr>
          </a:p>
        </p:txBody>
      </p:sp>
      <p:sp>
        <p:nvSpPr>
          <p:cNvPr id="73" name="Google Shape;73;p6"/>
          <p:cNvSpPr/>
          <p:nvPr/>
        </p:nvSpPr>
        <p:spPr>
          <a:xfrm>
            <a:off x="3657600" y="3246120"/>
            <a:ext cx="2377440" cy="621792"/>
          </a:xfrm>
          <a:prstGeom prst="roundRect">
            <a:avLst>
              <a:gd fmla="val 8824"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3749040" y="3429000"/>
            <a:ext cx="21945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Danceability</a:t>
            </a:r>
            <a:endParaRPr b="0" i="0" sz="1250" u="none" cap="none" strike="noStrike">
              <a:solidFill>
                <a:schemeClr val="dk1"/>
              </a:solidFill>
              <a:latin typeface="Arial"/>
              <a:ea typeface="Arial"/>
              <a:cs typeface="Arial"/>
              <a:sym typeface="Arial"/>
            </a:endParaRPr>
          </a:p>
        </p:txBody>
      </p:sp>
      <p:sp>
        <p:nvSpPr>
          <p:cNvPr id="75" name="Google Shape;75;p6"/>
          <p:cNvSpPr/>
          <p:nvPr/>
        </p:nvSpPr>
        <p:spPr>
          <a:xfrm>
            <a:off x="6446520" y="3246120"/>
            <a:ext cx="2377440" cy="621792"/>
          </a:xfrm>
          <a:prstGeom prst="roundRect">
            <a:avLst>
              <a:gd fmla="val 8824"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6537960" y="3429000"/>
            <a:ext cx="21945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Valence</a:t>
            </a:r>
            <a:endParaRPr b="0" i="0" sz="1250" u="none" cap="none" strike="noStrike">
              <a:solidFill>
                <a:schemeClr val="dk1"/>
              </a:solidFill>
              <a:latin typeface="Arial"/>
              <a:ea typeface="Arial"/>
              <a:cs typeface="Arial"/>
              <a:sym typeface="Arial"/>
            </a:endParaRPr>
          </a:p>
        </p:txBody>
      </p:sp>
      <p:sp>
        <p:nvSpPr>
          <p:cNvPr id="77" name="Google Shape;77;p6"/>
          <p:cNvSpPr/>
          <p:nvPr/>
        </p:nvSpPr>
        <p:spPr>
          <a:xfrm>
            <a:off x="9235440" y="3246120"/>
            <a:ext cx="2377440" cy="621792"/>
          </a:xfrm>
          <a:prstGeom prst="roundRect">
            <a:avLst>
              <a:gd fmla="val 8824"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9326880" y="3429000"/>
            <a:ext cx="21945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Energy</a:t>
            </a:r>
            <a:endParaRPr b="0" i="0" sz="1250" u="none" cap="none" strike="noStrike">
              <a:solidFill>
                <a:schemeClr val="dk1"/>
              </a:solidFill>
              <a:latin typeface="Arial"/>
              <a:ea typeface="Arial"/>
              <a:cs typeface="Arial"/>
              <a:sym typeface="Arial"/>
            </a:endParaRPr>
          </a:p>
        </p:txBody>
      </p:sp>
      <p:sp>
        <p:nvSpPr>
          <p:cNvPr id="79" name="Google Shape;79;p6"/>
          <p:cNvSpPr/>
          <p:nvPr/>
        </p:nvSpPr>
        <p:spPr>
          <a:xfrm>
            <a:off x="868680" y="4160520"/>
            <a:ext cx="2377440" cy="621792"/>
          </a:xfrm>
          <a:prstGeom prst="roundRect">
            <a:avLst>
              <a:gd fmla="val 8824"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960120" y="4343400"/>
            <a:ext cx="21945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Acousticness</a:t>
            </a:r>
            <a:endParaRPr b="0" i="0" sz="1250" u="none" cap="none" strike="noStrike">
              <a:solidFill>
                <a:schemeClr val="dk1"/>
              </a:solidFill>
              <a:latin typeface="Arial"/>
              <a:ea typeface="Arial"/>
              <a:cs typeface="Arial"/>
              <a:sym typeface="Arial"/>
            </a:endParaRPr>
          </a:p>
        </p:txBody>
      </p:sp>
      <p:sp>
        <p:nvSpPr>
          <p:cNvPr id="81" name="Google Shape;81;p6"/>
          <p:cNvSpPr/>
          <p:nvPr/>
        </p:nvSpPr>
        <p:spPr>
          <a:xfrm>
            <a:off x="3657600" y="4160520"/>
            <a:ext cx="2377440" cy="621792"/>
          </a:xfrm>
          <a:prstGeom prst="roundRect">
            <a:avLst>
              <a:gd fmla="val 8824"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3749040" y="4343400"/>
            <a:ext cx="21945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Instrumentalness</a:t>
            </a:r>
            <a:endParaRPr b="0" i="0" sz="1250" u="none" cap="none" strike="noStrike">
              <a:solidFill>
                <a:schemeClr val="dk1"/>
              </a:solidFill>
              <a:latin typeface="Arial"/>
              <a:ea typeface="Arial"/>
              <a:cs typeface="Arial"/>
              <a:sym typeface="Arial"/>
            </a:endParaRPr>
          </a:p>
        </p:txBody>
      </p:sp>
      <p:sp>
        <p:nvSpPr>
          <p:cNvPr id="83" name="Google Shape;83;p6"/>
          <p:cNvSpPr/>
          <p:nvPr/>
        </p:nvSpPr>
        <p:spPr>
          <a:xfrm>
            <a:off x="6446520" y="4160520"/>
            <a:ext cx="2377440" cy="621792"/>
          </a:xfrm>
          <a:prstGeom prst="roundRect">
            <a:avLst>
              <a:gd fmla="val 8824"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6537960" y="4343400"/>
            <a:ext cx="21945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Liveness</a:t>
            </a:r>
            <a:endParaRPr b="0" i="0" sz="1250" u="none" cap="none" strike="noStrike">
              <a:solidFill>
                <a:schemeClr val="dk1"/>
              </a:solidFill>
              <a:latin typeface="Arial"/>
              <a:ea typeface="Arial"/>
              <a:cs typeface="Arial"/>
              <a:sym typeface="Arial"/>
            </a:endParaRPr>
          </a:p>
        </p:txBody>
      </p:sp>
      <p:sp>
        <p:nvSpPr>
          <p:cNvPr id="85" name="Google Shape;85;p6"/>
          <p:cNvSpPr/>
          <p:nvPr/>
        </p:nvSpPr>
        <p:spPr>
          <a:xfrm>
            <a:off x="9235440" y="4160520"/>
            <a:ext cx="2377440" cy="621792"/>
          </a:xfrm>
          <a:prstGeom prst="roundRect">
            <a:avLst>
              <a:gd fmla="val 8824"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9326880" y="4343400"/>
            <a:ext cx="21945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Speechiness</a:t>
            </a:r>
            <a:endParaRPr b="0" i="0" sz="1250" u="none" cap="none" strike="noStrike">
              <a:solidFill>
                <a:schemeClr val="dk1"/>
              </a:solidFill>
              <a:latin typeface="Arial"/>
              <a:ea typeface="Arial"/>
              <a:cs typeface="Arial"/>
              <a:sym typeface="Arial"/>
            </a:endParaRPr>
          </a:p>
        </p:txBody>
      </p:sp>
      <p:sp>
        <p:nvSpPr>
          <p:cNvPr id="87" name="Google Shape;87;p6"/>
          <p:cNvSpPr/>
          <p:nvPr/>
        </p:nvSpPr>
        <p:spPr>
          <a:xfrm>
            <a:off x="1051560" y="5285232"/>
            <a:ext cx="100584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61"/>
              </a:buClr>
              <a:buSzPts val="1400"/>
              <a:buFont typeface="Arial"/>
              <a:buNone/>
            </a:pPr>
            <a:r>
              <a:rPr b="0" i="0" lang="en-US" sz="1400" u="none" cap="none" strike="noStrike">
                <a:solidFill>
                  <a:srgbClr val="5E6661"/>
                </a:solidFill>
                <a:latin typeface="Arial"/>
                <a:ea typeface="Arial"/>
                <a:cs typeface="Arial"/>
                <a:sym typeface="Arial"/>
              </a:rPr>
              <a:t>track_name and artist(s)_name identify songs; the 8 audio variables define the initial content profile.</a:t>
            </a:r>
            <a:endParaRPr b="0" i="0" sz="1400" u="none" cap="none" strike="noStrike">
              <a:solidFill>
                <a:schemeClr val="dk1"/>
              </a:solidFill>
              <a:latin typeface="Arial"/>
              <a:ea typeface="Arial"/>
              <a:cs typeface="Arial"/>
              <a:sym typeface="Arial"/>
            </a:endParaRPr>
          </a:p>
        </p:txBody>
      </p:sp>
      <p:sp>
        <p:nvSpPr>
          <p:cNvPr id="88" name="Google Shape;88;p6"/>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7"/>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Data quality check</a:t>
            </a:r>
            <a:endParaRPr b="0" i="0" sz="2700" u="none" cap="none" strike="noStrike">
              <a:solidFill>
                <a:schemeClr val="dk1"/>
              </a:solidFill>
              <a:latin typeface="Arial"/>
              <a:ea typeface="Arial"/>
              <a:cs typeface="Arial"/>
              <a:sym typeface="Arial"/>
            </a:endParaRPr>
          </a:p>
        </p:txBody>
      </p:sp>
      <p:sp>
        <p:nvSpPr>
          <p:cNvPr id="95" name="Google Shape;95;p7"/>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The selected audio features are complete and within plausible ranges, but repeated song–artist records need inspection.</a:t>
            </a:r>
            <a:endParaRPr b="0" i="0" sz="1350" u="none" cap="none" strike="noStrike">
              <a:solidFill>
                <a:schemeClr val="dk1"/>
              </a:solidFill>
              <a:latin typeface="Arial"/>
              <a:ea typeface="Arial"/>
              <a:cs typeface="Arial"/>
              <a:sym typeface="Arial"/>
            </a:endParaRPr>
          </a:p>
        </p:txBody>
      </p:sp>
      <p:sp>
        <p:nvSpPr>
          <p:cNvPr id="96" name="Google Shape;96;p7"/>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QUALITY</a:t>
            </a:r>
            <a:endParaRPr b="0" i="0" sz="900" u="none" cap="none" strike="noStrike">
              <a:solidFill>
                <a:schemeClr val="dk1"/>
              </a:solidFill>
              <a:latin typeface="Arial"/>
              <a:ea typeface="Arial"/>
              <a:cs typeface="Arial"/>
              <a:sym typeface="Arial"/>
            </a:endParaRPr>
          </a:p>
        </p:txBody>
      </p:sp>
      <p:sp>
        <p:nvSpPr>
          <p:cNvPr id="98" name="Google Shape;98;p7"/>
          <p:cNvSpPr/>
          <p:nvPr/>
        </p:nvSpPr>
        <p:spPr>
          <a:xfrm>
            <a:off x="685800" y="1371600"/>
            <a:ext cx="2377440" cy="1417320"/>
          </a:xfrm>
          <a:prstGeom prst="roundRect">
            <a:avLst>
              <a:gd fmla="val 5161"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685800" y="1600200"/>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2800"/>
              <a:buFont typeface="Arial"/>
              <a:buNone/>
            </a:pPr>
            <a:r>
              <a:rPr b="1" i="0" lang="en-US" sz="2800" u="none" cap="none" strike="noStrike">
                <a:solidFill>
                  <a:srgbClr val="1DB954"/>
                </a:solidFill>
                <a:latin typeface="Arial"/>
                <a:ea typeface="Arial"/>
                <a:cs typeface="Arial"/>
                <a:sym typeface="Arial"/>
              </a:rPr>
              <a:t>0</a:t>
            </a:r>
            <a:endParaRPr b="0" i="0" sz="2800" u="none" cap="none" strike="noStrike">
              <a:solidFill>
                <a:schemeClr val="dk1"/>
              </a:solidFill>
              <a:latin typeface="Arial"/>
              <a:ea typeface="Arial"/>
              <a:cs typeface="Arial"/>
              <a:sym typeface="Arial"/>
            </a:endParaRPr>
          </a:p>
        </p:txBody>
      </p:sp>
      <p:sp>
        <p:nvSpPr>
          <p:cNvPr id="100" name="Google Shape;100;p7"/>
          <p:cNvSpPr/>
          <p:nvPr/>
        </p:nvSpPr>
        <p:spPr>
          <a:xfrm>
            <a:off x="822960" y="214884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61"/>
              </a:buClr>
              <a:buSzPts val="1150"/>
              <a:buFont typeface="Arial"/>
              <a:buNone/>
            </a:pPr>
            <a:r>
              <a:rPr b="0" i="0" lang="en-US" sz="1150" u="none" cap="none" strike="noStrike">
                <a:solidFill>
                  <a:srgbClr val="5E6661"/>
                </a:solidFill>
                <a:latin typeface="Arial"/>
                <a:ea typeface="Arial"/>
                <a:cs typeface="Arial"/>
                <a:sym typeface="Arial"/>
              </a:rPr>
              <a:t>missing values</a:t>
            </a:r>
            <a:endParaRPr b="0" i="0" sz="11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5E6661"/>
              </a:buClr>
              <a:buSzPts val="1150"/>
              <a:buFont typeface="Arial"/>
              <a:buNone/>
            </a:pPr>
            <a:r>
              <a:rPr b="0" i="0" lang="en-US" sz="1150" u="none" cap="none" strike="noStrike">
                <a:solidFill>
                  <a:srgbClr val="5E6661"/>
                </a:solidFill>
                <a:latin typeface="Arial"/>
                <a:ea typeface="Arial"/>
                <a:cs typeface="Arial"/>
                <a:sym typeface="Arial"/>
              </a:rPr>
              <a:t>in audio features</a:t>
            </a:r>
            <a:endParaRPr b="0" i="0" sz="1150" u="none" cap="none" strike="noStrike">
              <a:solidFill>
                <a:schemeClr val="dk1"/>
              </a:solidFill>
              <a:latin typeface="Arial"/>
              <a:ea typeface="Arial"/>
              <a:cs typeface="Arial"/>
              <a:sym typeface="Arial"/>
            </a:endParaRPr>
          </a:p>
        </p:txBody>
      </p:sp>
      <p:sp>
        <p:nvSpPr>
          <p:cNvPr id="101" name="Google Shape;101;p7"/>
          <p:cNvSpPr/>
          <p:nvPr/>
        </p:nvSpPr>
        <p:spPr>
          <a:xfrm>
            <a:off x="3474720" y="1371600"/>
            <a:ext cx="2377440" cy="1417320"/>
          </a:xfrm>
          <a:prstGeom prst="roundRect">
            <a:avLst>
              <a:gd fmla="val 5161"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3474720" y="1600200"/>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2800"/>
              <a:buFont typeface="Arial"/>
              <a:buNone/>
            </a:pPr>
            <a:r>
              <a:rPr b="1" i="0" lang="en-US" sz="2800" u="none" cap="none" strike="noStrike">
                <a:solidFill>
                  <a:srgbClr val="1DB954"/>
                </a:solidFill>
                <a:latin typeface="Arial"/>
                <a:ea typeface="Arial"/>
                <a:cs typeface="Arial"/>
                <a:sym typeface="Arial"/>
              </a:rPr>
              <a:t>0</a:t>
            </a:r>
            <a:endParaRPr b="0" i="0" sz="2800" u="none" cap="none" strike="noStrike">
              <a:solidFill>
                <a:schemeClr val="dk1"/>
              </a:solidFill>
              <a:latin typeface="Arial"/>
              <a:ea typeface="Arial"/>
              <a:cs typeface="Arial"/>
              <a:sym typeface="Arial"/>
            </a:endParaRPr>
          </a:p>
        </p:txBody>
      </p:sp>
      <p:sp>
        <p:nvSpPr>
          <p:cNvPr id="103" name="Google Shape;103;p7"/>
          <p:cNvSpPr/>
          <p:nvPr/>
        </p:nvSpPr>
        <p:spPr>
          <a:xfrm>
            <a:off x="3611880" y="214884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61"/>
              </a:buClr>
              <a:buSzPts val="1150"/>
              <a:buFont typeface="Arial"/>
              <a:buNone/>
            </a:pPr>
            <a:r>
              <a:rPr b="0" i="0" lang="en-US" sz="1150" u="none" cap="none" strike="noStrike">
                <a:solidFill>
                  <a:srgbClr val="5E6661"/>
                </a:solidFill>
                <a:latin typeface="Arial"/>
                <a:ea typeface="Arial"/>
                <a:cs typeface="Arial"/>
                <a:sym typeface="Arial"/>
              </a:rPr>
              <a:t>fully duplicated</a:t>
            </a:r>
            <a:endParaRPr b="0" i="0" sz="11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5E6661"/>
              </a:buClr>
              <a:buSzPts val="1150"/>
              <a:buFont typeface="Arial"/>
              <a:buNone/>
            </a:pPr>
            <a:r>
              <a:rPr b="0" i="0" lang="en-US" sz="1150" u="none" cap="none" strike="noStrike">
                <a:solidFill>
                  <a:srgbClr val="5E6661"/>
                </a:solidFill>
                <a:latin typeface="Arial"/>
                <a:ea typeface="Arial"/>
                <a:cs typeface="Arial"/>
                <a:sym typeface="Arial"/>
              </a:rPr>
              <a:t>rows</a:t>
            </a:r>
            <a:endParaRPr b="0" i="0" sz="1150" u="none" cap="none" strike="noStrike">
              <a:solidFill>
                <a:schemeClr val="dk1"/>
              </a:solidFill>
              <a:latin typeface="Arial"/>
              <a:ea typeface="Arial"/>
              <a:cs typeface="Arial"/>
              <a:sym typeface="Arial"/>
            </a:endParaRPr>
          </a:p>
        </p:txBody>
      </p:sp>
      <p:sp>
        <p:nvSpPr>
          <p:cNvPr id="104" name="Google Shape;104;p7"/>
          <p:cNvSpPr/>
          <p:nvPr/>
        </p:nvSpPr>
        <p:spPr>
          <a:xfrm>
            <a:off x="6263640" y="1371600"/>
            <a:ext cx="2377440" cy="1417320"/>
          </a:xfrm>
          <a:prstGeom prst="roundRect">
            <a:avLst>
              <a:gd fmla="val 5161"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6263640" y="1600200"/>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8C28"/>
              </a:buClr>
              <a:buSzPts val="2800"/>
              <a:buFont typeface="Arial"/>
              <a:buNone/>
            </a:pPr>
            <a:r>
              <a:rPr b="1" i="0" lang="en-US" sz="2800" u="none" cap="none" strike="noStrike">
                <a:solidFill>
                  <a:srgbClr val="F28C28"/>
                </a:solidFill>
                <a:latin typeface="Arial"/>
                <a:ea typeface="Arial"/>
                <a:cs typeface="Arial"/>
                <a:sym typeface="Arial"/>
              </a:rPr>
              <a:t>4</a:t>
            </a:r>
            <a:endParaRPr b="0" i="0" sz="2800" u="none" cap="none" strike="noStrike">
              <a:solidFill>
                <a:schemeClr val="dk1"/>
              </a:solidFill>
              <a:latin typeface="Arial"/>
              <a:ea typeface="Arial"/>
              <a:cs typeface="Arial"/>
              <a:sym typeface="Arial"/>
            </a:endParaRPr>
          </a:p>
        </p:txBody>
      </p:sp>
      <p:sp>
        <p:nvSpPr>
          <p:cNvPr id="106" name="Google Shape;106;p7"/>
          <p:cNvSpPr/>
          <p:nvPr/>
        </p:nvSpPr>
        <p:spPr>
          <a:xfrm>
            <a:off x="6400800" y="214884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61"/>
              </a:buClr>
              <a:buSzPts val="1150"/>
              <a:buFont typeface="Arial"/>
              <a:buNone/>
            </a:pPr>
            <a:r>
              <a:rPr b="0" i="0" lang="en-US" sz="1150" u="none" cap="none" strike="noStrike">
                <a:solidFill>
                  <a:srgbClr val="5E6661"/>
                </a:solidFill>
                <a:latin typeface="Arial"/>
                <a:ea typeface="Arial"/>
                <a:cs typeface="Arial"/>
                <a:sym typeface="Arial"/>
              </a:rPr>
              <a:t>repeated track–artist</a:t>
            </a:r>
            <a:endParaRPr b="0" i="0" sz="11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5E6661"/>
              </a:buClr>
              <a:buSzPts val="1150"/>
              <a:buFont typeface="Arial"/>
              <a:buNone/>
            </a:pPr>
            <a:r>
              <a:rPr b="0" i="0" lang="en-US" sz="1150" u="none" cap="none" strike="noStrike">
                <a:solidFill>
                  <a:srgbClr val="5E6661"/>
                </a:solidFill>
                <a:latin typeface="Arial"/>
                <a:ea typeface="Arial"/>
                <a:cs typeface="Arial"/>
                <a:sym typeface="Arial"/>
              </a:rPr>
              <a:t>combinations</a:t>
            </a:r>
            <a:endParaRPr b="0" i="0" sz="1150" u="none" cap="none" strike="noStrike">
              <a:solidFill>
                <a:schemeClr val="dk1"/>
              </a:solidFill>
              <a:latin typeface="Arial"/>
              <a:ea typeface="Arial"/>
              <a:cs typeface="Arial"/>
              <a:sym typeface="Arial"/>
            </a:endParaRPr>
          </a:p>
        </p:txBody>
      </p:sp>
      <p:sp>
        <p:nvSpPr>
          <p:cNvPr id="107" name="Google Shape;107;p7"/>
          <p:cNvSpPr/>
          <p:nvPr/>
        </p:nvSpPr>
        <p:spPr>
          <a:xfrm>
            <a:off x="9052560" y="1371600"/>
            <a:ext cx="2377440" cy="1417320"/>
          </a:xfrm>
          <a:prstGeom prst="roundRect">
            <a:avLst>
              <a:gd fmla="val 5161"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9052560" y="1600200"/>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2800"/>
              <a:buFont typeface="Arial"/>
              <a:buNone/>
            </a:pPr>
            <a:r>
              <a:rPr b="1" i="0" lang="en-US" sz="2800" u="none" cap="none" strike="noStrike">
                <a:solidFill>
                  <a:srgbClr val="1DB954"/>
                </a:solidFill>
                <a:latin typeface="Arial"/>
                <a:ea typeface="Arial"/>
                <a:cs typeface="Arial"/>
                <a:sym typeface="Arial"/>
              </a:rPr>
              <a:t>0</a:t>
            </a:r>
            <a:endParaRPr b="0" i="0" sz="2800" u="none" cap="none" strike="noStrike">
              <a:solidFill>
                <a:schemeClr val="dk1"/>
              </a:solidFill>
              <a:latin typeface="Arial"/>
              <a:ea typeface="Arial"/>
              <a:cs typeface="Arial"/>
              <a:sym typeface="Arial"/>
            </a:endParaRPr>
          </a:p>
        </p:txBody>
      </p:sp>
      <p:sp>
        <p:nvSpPr>
          <p:cNvPr id="109" name="Google Shape;109;p7"/>
          <p:cNvSpPr/>
          <p:nvPr/>
        </p:nvSpPr>
        <p:spPr>
          <a:xfrm>
            <a:off x="9189720" y="214884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61"/>
              </a:buClr>
              <a:buSzPts val="1150"/>
              <a:buFont typeface="Arial"/>
              <a:buNone/>
            </a:pPr>
            <a:r>
              <a:rPr b="0" i="0" lang="en-US" sz="1150" u="none" cap="none" strike="noStrike">
                <a:solidFill>
                  <a:srgbClr val="5E6661"/>
                </a:solidFill>
                <a:latin typeface="Arial"/>
                <a:ea typeface="Arial"/>
                <a:cs typeface="Arial"/>
                <a:sym typeface="Arial"/>
              </a:rPr>
              <a:t>range violations</a:t>
            </a:r>
            <a:endParaRPr b="0" i="0" sz="11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5E6661"/>
              </a:buClr>
              <a:buSzPts val="1150"/>
              <a:buFont typeface="Arial"/>
              <a:buNone/>
            </a:pPr>
            <a:r>
              <a:rPr b="0" i="0" lang="en-US" sz="1150" u="none" cap="none" strike="noStrike">
                <a:solidFill>
                  <a:srgbClr val="5E6661"/>
                </a:solidFill>
                <a:latin typeface="Arial"/>
                <a:ea typeface="Arial"/>
                <a:cs typeface="Arial"/>
                <a:sym typeface="Arial"/>
              </a:rPr>
              <a:t>in selected features</a:t>
            </a:r>
            <a:endParaRPr b="0" i="0" sz="1150" u="none" cap="none" strike="noStrike">
              <a:solidFill>
                <a:schemeClr val="dk1"/>
              </a:solidFill>
              <a:latin typeface="Arial"/>
              <a:ea typeface="Arial"/>
              <a:cs typeface="Arial"/>
              <a:sym typeface="Arial"/>
            </a:endParaRPr>
          </a:p>
        </p:txBody>
      </p:sp>
      <p:sp>
        <p:nvSpPr>
          <p:cNvPr id="110" name="Google Shape;110;p7"/>
          <p:cNvSpPr/>
          <p:nvPr/>
        </p:nvSpPr>
        <p:spPr>
          <a:xfrm>
            <a:off x="777240" y="3246120"/>
            <a:ext cx="5120640" cy="2057400"/>
          </a:xfrm>
          <a:prstGeom prst="roundRect">
            <a:avLst>
              <a:gd fmla="val 3111"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941832" y="3383280"/>
            <a:ext cx="47914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Why the repeated tracks matter</a:t>
            </a:r>
            <a:endParaRPr b="0" i="0" sz="1350" u="none" cap="none" strike="noStrike">
              <a:solidFill>
                <a:schemeClr val="dk1"/>
              </a:solidFill>
              <a:latin typeface="Arial"/>
              <a:ea typeface="Arial"/>
              <a:cs typeface="Arial"/>
              <a:sym typeface="Arial"/>
            </a:endParaRPr>
          </a:p>
        </p:txBody>
      </p:sp>
      <p:sp>
        <p:nvSpPr>
          <p:cNvPr id="112" name="Google Shape;112;p7"/>
          <p:cNvSpPr/>
          <p:nvPr/>
        </p:nvSpPr>
        <p:spPr>
          <a:xfrm>
            <a:off x="941832" y="3703320"/>
            <a:ext cx="4791456" cy="149047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If a track appears twice, the system might later recommend the same song back to the user under another record. We therefore inspect the repeated track–artist combinations before modeling.</a:t>
            </a:r>
            <a:endParaRPr b="0" i="0" sz="1120" u="none" cap="none" strike="noStrike">
              <a:solidFill>
                <a:schemeClr val="dk1"/>
              </a:solidFill>
              <a:latin typeface="Arial"/>
              <a:ea typeface="Arial"/>
              <a:cs typeface="Arial"/>
              <a:sym typeface="Arial"/>
            </a:endParaRPr>
          </a:p>
        </p:txBody>
      </p:sp>
      <p:sp>
        <p:nvSpPr>
          <p:cNvPr id="113" name="Google Shape;113;p7"/>
          <p:cNvSpPr/>
          <p:nvPr/>
        </p:nvSpPr>
        <p:spPr>
          <a:xfrm>
            <a:off x="6217920" y="3246120"/>
            <a:ext cx="5120640" cy="2057400"/>
          </a:xfrm>
          <a:prstGeom prst="roundRect">
            <a:avLst>
              <a:gd fmla="val 3111"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6382512" y="3383280"/>
            <a:ext cx="47914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Important modeling implication</a:t>
            </a:r>
            <a:endParaRPr b="0" i="0" sz="1350" u="none" cap="none" strike="noStrike">
              <a:solidFill>
                <a:schemeClr val="dk1"/>
              </a:solidFill>
              <a:latin typeface="Arial"/>
              <a:ea typeface="Arial"/>
              <a:cs typeface="Arial"/>
              <a:sym typeface="Arial"/>
            </a:endParaRPr>
          </a:p>
        </p:txBody>
      </p:sp>
      <p:sp>
        <p:nvSpPr>
          <p:cNvPr id="115" name="Google Shape;115;p7"/>
          <p:cNvSpPr/>
          <p:nvPr/>
        </p:nvSpPr>
        <p:spPr>
          <a:xfrm>
            <a:off x="6382512" y="3703320"/>
            <a:ext cx="4791456" cy="149047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Because the eight audio features have no missing values, the baseline recommender does not require imputation for these variables. That keeps the first model clean and easy to interpret.</a:t>
            </a:r>
            <a:endParaRPr b="0" i="0" sz="1120" u="none" cap="none" strike="noStrike">
              <a:solidFill>
                <a:schemeClr val="dk1"/>
              </a:solidFill>
              <a:latin typeface="Arial"/>
              <a:ea typeface="Arial"/>
              <a:cs typeface="Arial"/>
              <a:sym typeface="Arial"/>
            </a:endParaRPr>
          </a:p>
        </p:txBody>
      </p:sp>
      <p:sp>
        <p:nvSpPr>
          <p:cNvPr id="116" name="Google Shape;116;p7"/>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Descriptive statistics</a:t>
            </a:r>
            <a:endParaRPr b="0" i="0" sz="2700" u="none" cap="none" strike="noStrike">
              <a:solidFill>
                <a:schemeClr val="dk1"/>
              </a:solidFill>
              <a:latin typeface="Arial"/>
              <a:ea typeface="Arial"/>
              <a:cs typeface="Arial"/>
              <a:sym typeface="Arial"/>
            </a:endParaRPr>
          </a:p>
        </p:txBody>
      </p:sp>
      <p:sp>
        <p:nvSpPr>
          <p:cNvPr id="123" name="Google Shape;123;p8"/>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The features differ substantially in center, spread and range.</a:t>
            </a:r>
            <a:endParaRPr b="0" i="0" sz="1350" u="none" cap="none" strike="noStrike">
              <a:solidFill>
                <a:schemeClr val="dk1"/>
              </a:solidFill>
              <a:latin typeface="Arial"/>
              <a:ea typeface="Arial"/>
              <a:cs typeface="Arial"/>
              <a:sym typeface="Arial"/>
            </a:endParaRPr>
          </a:p>
        </p:txBody>
      </p:sp>
      <p:sp>
        <p:nvSpPr>
          <p:cNvPr id="124" name="Google Shape;124;p8"/>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SUMMARY</a:t>
            </a:r>
            <a:endParaRPr b="0" i="0" sz="900" u="none" cap="none" strike="noStrike">
              <a:solidFill>
                <a:schemeClr val="dk1"/>
              </a:solidFill>
              <a:latin typeface="Arial"/>
              <a:ea typeface="Arial"/>
              <a:cs typeface="Arial"/>
              <a:sym typeface="Arial"/>
            </a:endParaRPr>
          </a:p>
        </p:txBody>
      </p:sp>
      <p:graphicFrame>
        <p:nvGraphicFramePr>
          <p:cNvPr id="126" name="Google Shape;126;p8"/>
          <p:cNvGraphicFramePr/>
          <p:nvPr/>
        </p:nvGraphicFramePr>
        <p:xfrm>
          <a:off x="640080" y="1325880"/>
          <a:ext cx="3000000" cy="3000000"/>
        </p:xfrm>
        <a:graphic>
          <a:graphicData uri="http://schemas.openxmlformats.org/drawingml/2006/table">
            <a:tbl>
              <a:tblPr>
                <a:noFill/>
                <a:tableStyleId>{31B76D0C-9704-4C81-A916-03D9A4E945BC}</a:tableStyleId>
              </a:tblPr>
              <a:tblGrid>
                <a:gridCol w="1920250"/>
                <a:gridCol w="960125"/>
                <a:gridCol w="960125"/>
                <a:gridCol w="868675"/>
                <a:gridCol w="822950"/>
                <a:gridCol w="822950"/>
              </a:tblGrid>
              <a:tr h="438900">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Feature</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Mean</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Median</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SD</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Min</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Max</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BPM</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122.5</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121.0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28.1</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65</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206</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Danceability</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67.0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69.0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14.6</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23</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96</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Valence</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51.4</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51.0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23.5</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4</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97</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Energy</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64.3</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66.0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16.6</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9</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97</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Acousticness</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27.1</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18.0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26.0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97</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Instrumentalness</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1.6</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0.0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8.4</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91</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Liveness</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18.2</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12.0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13.7</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3</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97</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Speechiness</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10.1</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6.0</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9.9</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2</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100"/>
                        <a:buFont typeface="Arial"/>
                        <a:buNone/>
                      </a:pPr>
                      <a:r>
                        <a:rPr b="1" lang="en-US" sz="1100" u="none" cap="none" strike="noStrike">
                          <a:solidFill>
                            <a:srgbClr val="111111"/>
                          </a:solidFill>
                          <a:latin typeface="Arial"/>
                          <a:ea typeface="Arial"/>
                          <a:cs typeface="Arial"/>
                          <a:sym typeface="Arial"/>
                        </a:rPr>
                        <a:t>64</a:t>
                      </a:r>
                      <a:endParaRPr sz="1100" u="none" cap="none" strike="noStrike">
                        <a:latin typeface="Arial"/>
                        <a:ea typeface="Arial"/>
                        <a:cs typeface="Arial"/>
                        <a:sym typeface="Arial"/>
                      </a:endParaRPr>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bl>
          </a:graphicData>
        </a:graphic>
      </p:graphicFrame>
      <p:sp>
        <p:nvSpPr>
          <p:cNvPr id="127" name="Google Shape;127;p8"/>
          <p:cNvSpPr/>
          <p:nvPr/>
        </p:nvSpPr>
        <p:spPr>
          <a:xfrm>
            <a:off x="8641080" y="1417320"/>
            <a:ext cx="2880360" cy="1600200"/>
          </a:xfrm>
          <a:prstGeom prst="roundRect">
            <a:avLst>
              <a:gd fmla="val 4000" name="adj"/>
            </a:avLst>
          </a:prstGeom>
          <a:solidFill>
            <a:srgbClr val="E7F6EC"/>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8805672" y="1554480"/>
            <a:ext cx="2551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Instrumentalness stands out</a:t>
            </a:r>
            <a:endParaRPr b="0" i="0" sz="1350" u="none" cap="none" strike="noStrike">
              <a:solidFill>
                <a:schemeClr val="dk1"/>
              </a:solidFill>
              <a:latin typeface="Arial"/>
              <a:ea typeface="Arial"/>
              <a:cs typeface="Arial"/>
              <a:sym typeface="Arial"/>
            </a:endParaRPr>
          </a:p>
        </p:txBody>
      </p:sp>
      <p:sp>
        <p:nvSpPr>
          <p:cNvPr id="129" name="Google Shape;129;p8"/>
          <p:cNvSpPr/>
          <p:nvPr/>
        </p:nvSpPr>
        <p:spPr>
          <a:xfrm>
            <a:off x="8805672" y="1874520"/>
            <a:ext cx="2551176" cy="103327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Mean = 1.6%, median = 0%. About 90.9% of songs have instrumentalness exactly 0.</a:t>
            </a:r>
            <a:endParaRPr b="0" i="0" sz="1120" u="none" cap="none" strike="noStrike">
              <a:solidFill>
                <a:schemeClr val="dk1"/>
              </a:solidFill>
              <a:latin typeface="Arial"/>
              <a:ea typeface="Arial"/>
              <a:cs typeface="Arial"/>
              <a:sym typeface="Arial"/>
            </a:endParaRPr>
          </a:p>
        </p:txBody>
      </p:sp>
      <p:sp>
        <p:nvSpPr>
          <p:cNvPr id="130" name="Google Shape;130;p8"/>
          <p:cNvSpPr/>
          <p:nvPr/>
        </p:nvSpPr>
        <p:spPr>
          <a:xfrm>
            <a:off x="8641080" y="3246120"/>
            <a:ext cx="2880360" cy="1600200"/>
          </a:xfrm>
          <a:prstGeom prst="roundRect">
            <a:avLst>
              <a:gd fmla="val 4000"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8805672" y="3383280"/>
            <a:ext cx="2551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Scale and spread differ</a:t>
            </a:r>
            <a:endParaRPr b="0" i="0" sz="1350" u="none" cap="none" strike="noStrike">
              <a:solidFill>
                <a:schemeClr val="dk1"/>
              </a:solidFill>
              <a:latin typeface="Arial"/>
              <a:ea typeface="Arial"/>
              <a:cs typeface="Arial"/>
              <a:sym typeface="Arial"/>
            </a:endParaRPr>
          </a:p>
        </p:txBody>
      </p:sp>
      <p:sp>
        <p:nvSpPr>
          <p:cNvPr id="132" name="Google Shape;132;p8"/>
          <p:cNvSpPr/>
          <p:nvPr/>
        </p:nvSpPr>
        <p:spPr>
          <a:xfrm>
            <a:off x="8805672" y="3703320"/>
            <a:ext cx="2551176" cy="103327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BPM ranges from 65 to 206, while the percentage variables have different spreads. Raw Euclidean distance would therefore not treat every feature comparably.</a:t>
            </a:r>
            <a:endParaRPr b="0" i="0" sz="1120" u="none" cap="none" strike="noStrike">
              <a:solidFill>
                <a:schemeClr val="dk1"/>
              </a:solidFill>
              <a:latin typeface="Arial"/>
              <a:ea typeface="Arial"/>
              <a:cs typeface="Arial"/>
              <a:sym typeface="Arial"/>
            </a:endParaRPr>
          </a:p>
        </p:txBody>
      </p:sp>
      <p:sp>
        <p:nvSpPr>
          <p:cNvPr id="133" name="Google Shape;133;p8"/>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Feature distributions</a:t>
            </a:r>
            <a:endParaRPr b="0" i="0" sz="2700" u="none" cap="none" strike="noStrike">
              <a:solidFill>
                <a:schemeClr val="dk1"/>
              </a:solidFill>
              <a:latin typeface="Arial"/>
              <a:ea typeface="Arial"/>
              <a:cs typeface="Arial"/>
              <a:sym typeface="Arial"/>
            </a:endParaRPr>
          </a:p>
        </p:txBody>
      </p:sp>
      <p:sp>
        <p:nvSpPr>
          <p:cNvPr id="140" name="Google Shape;140;p9"/>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The catalog is not uniform: some audio characteristics are broad, while others are strongly concentrated.</a:t>
            </a:r>
            <a:endParaRPr b="0" i="0" sz="1350" u="none" cap="none" strike="noStrike">
              <a:solidFill>
                <a:schemeClr val="dk1"/>
              </a:solidFill>
              <a:latin typeface="Arial"/>
              <a:ea typeface="Arial"/>
              <a:cs typeface="Arial"/>
              <a:sym typeface="Arial"/>
            </a:endParaRPr>
          </a:p>
        </p:txBody>
      </p:sp>
      <p:sp>
        <p:nvSpPr>
          <p:cNvPr id="141" name="Google Shape;141;p9"/>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DISTRIBUTIONS</a:t>
            </a:r>
            <a:endParaRPr b="0" i="0" sz="900" u="none" cap="none" strike="noStrike">
              <a:solidFill>
                <a:schemeClr val="dk1"/>
              </a:solidFill>
              <a:latin typeface="Arial"/>
              <a:ea typeface="Arial"/>
              <a:cs typeface="Arial"/>
              <a:sym typeface="Arial"/>
            </a:endParaRPr>
          </a:p>
        </p:txBody>
      </p:sp>
      <p:pic>
        <p:nvPicPr>
          <p:cNvPr descr="/mnt/data/spotify_rich_eda_assets/hist_danceability.png" id="143" name="Google Shape;143;p9"/>
          <p:cNvPicPr preferRelativeResize="0"/>
          <p:nvPr/>
        </p:nvPicPr>
        <p:blipFill rotWithShape="1">
          <a:blip r:embed="rId3">
            <a:alphaModFix/>
          </a:blip>
          <a:srcRect b="0" l="0" r="0" t="0"/>
          <a:stretch/>
        </p:blipFill>
        <p:spPr>
          <a:xfrm>
            <a:off x="502920" y="1325880"/>
            <a:ext cx="2743200" cy="2057400"/>
          </a:xfrm>
          <a:prstGeom prst="rect">
            <a:avLst/>
          </a:prstGeom>
          <a:noFill/>
          <a:ln>
            <a:noFill/>
          </a:ln>
        </p:spPr>
      </p:pic>
      <p:pic>
        <p:nvPicPr>
          <p:cNvPr descr="/mnt/data/spotify_rich_eda_assets/hist_energy.png" id="144" name="Google Shape;144;p9"/>
          <p:cNvPicPr preferRelativeResize="0"/>
          <p:nvPr/>
        </p:nvPicPr>
        <p:blipFill rotWithShape="1">
          <a:blip r:embed="rId4">
            <a:alphaModFix/>
          </a:blip>
          <a:srcRect b="0" l="0" r="0" t="0"/>
          <a:stretch/>
        </p:blipFill>
        <p:spPr>
          <a:xfrm>
            <a:off x="3383280" y="1325880"/>
            <a:ext cx="2743200" cy="2057400"/>
          </a:xfrm>
          <a:prstGeom prst="rect">
            <a:avLst/>
          </a:prstGeom>
          <a:noFill/>
          <a:ln>
            <a:noFill/>
          </a:ln>
        </p:spPr>
      </p:pic>
      <p:pic>
        <p:nvPicPr>
          <p:cNvPr descr="/mnt/data/spotify_rich_eda_assets/hist_acousticness.png" id="145" name="Google Shape;145;p9"/>
          <p:cNvPicPr preferRelativeResize="0"/>
          <p:nvPr/>
        </p:nvPicPr>
        <p:blipFill rotWithShape="1">
          <a:blip r:embed="rId5">
            <a:alphaModFix/>
          </a:blip>
          <a:srcRect b="0" l="0" r="0" t="0"/>
          <a:stretch/>
        </p:blipFill>
        <p:spPr>
          <a:xfrm>
            <a:off x="6263640" y="1325880"/>
            <a:ext cx="2743200" cy="2057400"/>
          </a:xfrm>
          <a:prstGeom prst="rect">
            <a:avLst/>
          </a:prstGeom>
          <a:noFill/>
          <a:ln>
            <a:noFill/>
          </a:ln>
        </p:spPr>
      </p:pic>
      <p:pic>
        <p:nvPicPr>
          <p:cNvPr descr="/mnt/data/spotify_rich_eda_assets/hist_instrumentalness.png" id="146" name="Google Shape;146;p9"/>
          <p:cNvPicPr preferRelativeResize="0"/>
          <p:nvPr/>
        </p:nvPicPr>
        <p:blipFill rotWithShape="1">
          <a:blip r:embed="rId6">
            <a:alphaModFix/>
          </a:blip>
          <a:srcRect b="0" l="0" r="0" t="0"/>
          <a:stretch/>
        </p:blipFill>
        <p:spPr>
          <a:xfrm>
            <a:off x="9144000" y="1325880"/>
            <a:ext cx="2514600" cy="2057400"/>
          </a:xfrm>
          <a:prstGeom prst="rect">
            <a:avLst/>
          </a:prstGeom>
          <a:noFill/>
          <a:ln>
            <a:noFill/>
          </a:ln>
        </p:spPr>
      </p:pic>
      <p:pic>
        <p:nvPicPr>
          <p:cNvPr descr="/mnt/data/spotify_rich_eda_assets/hist_valence.png" id="147" name="Google Shape;147;p9"/>
          <p:cNvPicPr preferRelativeResize="0"/>
          <p:nvPr/>
        </p:nvPicPr>
        <p:blipFill rotWithShape="1">
          <a:blip r:embed="rId7">
            <a:alphaModFix/>
          </a:blip>
          <a:srcRect b="0" l="0" r="0" t="0"/>
          <a:stretch/>
        </p:blipFill>
        <p:spPr>
          <a:xfrm>
            <a:off x="502920" y="3794760"/>
            <a:ext cx="2743200" cy="1965960"/>
          </a:xfrm>
          <a:prstGeom prst="rect">
            <a:avLst/>
          </a:prstGeom>
          <a:noFill/>
          <a:ln>
            <a:noFill/>
          </a:ln>
        </p:spPr>
      </p:pic>
      <p:pic>
        <p:nvPicPr>
          <p:cNvPr descr="/mnt/data/spotify_rich_eda_assets/hist_liveness.png" id="148" name="Google Shape;148;p9"/>
          <p:cNvPicPr preferRelativeResize="0"/>
          <p:nvPr/>
        </p:nvPicPr>
        <p:blipFill rotWithShape="1">
          <a:blip r:embed="rId8">
            <a:alphaModFix/>
          </a:blip>
          <a:srcRect b="0" l="0" r="0" t="0"/>
          <a:stretch/>
        </p:blipFill>
        <p:spPr>
          <a:xfrm>
            <a:off x="3383280" y="3794760"/>
            <a:ext cx="2743200" cy="1965960"/>
          </a:xfrm>
          <a:prstGeom prst="rect">
            <a:avLst/>
          </a:prstGeom>
          <a:noFill/>
          <a:ln>
            <a:noFill/>
          </a:ln>
        </p:spPr>
      </p:pic>
      <p:pic>
        <p:nvPicPr>
          <p:cNvPr descr="/mnt/data/spotify_rich_eda_assets/hist_speechiness.png" id="149" name="Google Shape;149;p9"/>
          <p:cNvPicPr preferRelativeResize="0"/>
          <p:nvPr/>
        </p:nvPicPr>
        <p:blipFill rotWithShape="1">
          <a:blip r:embed="rId9">
            <a:alphaModFix/>
          </a:blip>
          <a:srcRect b="0" l="0" r="0" t="0"/>
          <a:stretch/>
        </p:blipFill>
        <p:spPr>
          <a:xfrm>
            <a:off x="6263640" y="3794760"/>
            <a:ext cx="2743200" cy="1965960"/>
          </a:xfrm>
          <a:prstGeom prst="rect">
            <a:avLst/>
          </a:prstGeom>
          <a:noFill/>
          <a:ln>
            <a:noFill/>
          </a:ln>
        </p:spPr>
      </p:pic>
      <p:pic>
        <p:nvPicPr>
          <p:cNvPr descr="/mnt/data/spotify_rich_eda_assets/hist_bpm.png" id="150" name="Google Shape;150;p9"/>
          <p:cNvPicPr preferRelativeResize="0"/>
          <p:nvPr/>
        </p:nvPicPr>
        <p:blipFill rotWithShape="1">
          <a:blip r:embed="rId10">
            <a:alphaModFix/>
          </a:blip>
          <a:srcRect b="0" l="0" r="0" t="0"/>
          <a:stretch/>
        </p:blipFill>
        <p:spPr>
          <a:xfrm>
            <a:off x="9144000" y="3794760"/>
            <a:ext cx="2514600" cy="1965960"/>
          </a:xfrm>
          <a:prstGeom prst="rect">
            <a:avLst/>
          </a:prstGeom>
          <a:noFill/>
          <a:ln>
            <a:noFill/>
          </a:ln>
        </p:spPr>
      </p:pic>
      <p:sp>
        <p:nvSpPr>
          <p:cNvPr id="151" name="Google Shape;151;p9"/>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Skewness deserves attention</a:t>
            </a:r>
            <a:endParaRPr b="0" i="0" sz="2700" u="none" cap="none" strike="noStrike">
              <a:solidFill>
                <a:schemeClr val="dk1"/>
              </a:solidFill>
              <a:latin typeface="Arial"/>
              <a:ea typeface="Arial"/>
              <a:cs typeface="Arial"/>
              <a:sym typeface="Arial"/>
            </a:endParaRPr>
          </a:p>
        </p:txBody>
      </p:sp>
      <p:sp>
        <p:nvSpPr>
          <p:cNvPr id="158" name="Google Shape;158;p10"/>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Several variables have long right tails; instrumentalness is the most extreme.</a:t>
            </a:r>
            <a:endParaRPr b="0" i="0" sz="1350" u="none" cap="none" strike="noStrike">
              <a:solidFill>
                <a:schemeClr val="dk1"/>
              </a:solidFill>
              <a:latin typeface="Arial"/>
              <a:ea typeface="Arial"/>
              <a:cs typeface="Arial"/>
              <a:sym typeface="Arial"/>
            </a:endParaRPr>
          </a:p>
        </p:txBody>
      </p:sp>
      <p:sp>
        <p:nvSpPr>
          <p:cNvPr id="159" name="Google Shape;159;p10"/>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SHAPE</a:t>
            </a:r>
            <a:endParaRPr b="0" i="0" sz="900" u="none" cap="none" strike="noStrike">
              <a:solidFill>
                <a:schemeClr val="dk1"/>
              </a:solidFill>
              <a:latin typeface="Arial"/>
              <a:ea typeface="Arial"/>
              <a:cs typeface="Arial"/>
              <a:sym typeface="Arial"/>
            </a:endParaRPr>
          </a:p>
        </p:txBody>
      </p:sp>
      <p:graphicFrame>
        <p:nvGraphicFramePr>
          <p:cNvPr id="161" name="Google Shape;161;p10"/>
          <p:cNvGraphicFramePr/>
          <p:nvPr/>
        </p:nvGraphicFramePr>
        <p:xfrm>
          <a:off x="731520" y="1325880"/>
          <a:ext cx="3000000" cy="3000000"/>
        </p:xfrm>
        <a:graphic>
          <a:graphicData uri="http://schemas.openxmlformats.org/drawingml/2006/table">
            <a:tbl>
              <a:tblPr>
                <a:noFill/>
                <a:tableStyleId>{31B76D0C-9704-4C81-A916-03D9A4E945BC}</a:tableStyleId>
              </a:tblPr>
              <a:tblGrid>
                <a:gridCol w="2926075"/>
                <a:gridCol w="1097275"/>
              </a:tblGrid>
              <a:tr h="502925">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Feature</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Skewness</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instrumentalness</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7.12</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liveness</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2.10</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speechiness</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1.93</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acousticness</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0.95</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bpm</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0.41</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valence</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0.01</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danceability</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-0.44</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energy</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200"/>
                        <a:buFont typeface="Arial"/>
                        <a:buNone/>
                      </a:pPr>
                      <a:r>
                        <a:rPr lang="en-US" sz="1200" u="none" cap="none" strike="noStrike">
                          <a:solidFill>
                            <a:srgbClr val="111111"/>
                          </a:solidFill>
                        </a:rPr>
                        <a:t>-0.45</a:t>
                      </a:r>
                      <a:endParaRPr sz="1200" u="none" cap="none" strike="noStrike"/>
                    </a:p>
                  </a:txBody>
                  <a:tcPr marT="54875" marB="54875" marR="54875" marL="54875">
                    <a:lnL cap="flat" cmpd="sng" w="12700">
                      <a:solidFill>
                        <a:srgbClr val="D8DDD9"/>
                      </a:solidFill>
                      <a:prstDash val="solid"/>
                      <a:round/>
                      <a:headEnd len="sm" w="sm" type="none"/>
                      <a:tailEnd len="sm" w="sm" type="none"/>
                    </a:lnL>
                    <a:lnR cap="flat" cmpd="sng" w="12700">
                      <a:solidFill>
                        <a:srgbClr val="D8DDD9"/>
                      </a:solidFill>
                      <a:prstDash val="solid"/>
                      <a:round/>
                      <a:headEnd len="sm" w="sm" type="none"/>
                      <a:tailEnd len="sm" w="sm" type="none"/>
                    </a:lnR>
                    <a:lnT cap="flat" cmpd="sng" w="12700">
                      <a:solidFill>
                        <a:srgbClr val="D8DDD9"/>
                      </a:solidFill>
                      <a:prstDash val="solid"/>
                      <a:round/>
                      <a:headEnd len="sm" w="sm" type="none"/>
                      <a:tailEnd len="sm" w="sm" type="none"/>
                    </a:lnT>
                    <a:lnB cap="flat" cmpd="sng" w="12700">
                      <a:solidFill>
                        <a:srgbClr val="D8DDD9"/>
                      </a:solidFill>
                      <a:prstDash val="solid"/>
                      <a:round/>
                      <a:headEnd len="sm" w="sm" type="none"/>
                      <a:tailEnd len="sm" w="sm" type="none"/>
                    </a:lnB>
                    <a:solidFill>
                      <a:srgbClr val="FFFFFF"/>
                    </a:solidFill>
                  </a:tcPr>
                </a:tc>
              </a:tr>
            </a:tbl>
          </a:graphicData>
        </a:graphic>
      </p:graphicFrame>
      <p:pic>
        <p:nvPicPr>
          <p:cNvPr descr="/mnt/data/spotify_rich_eda_assets/hist_instrumentalness.png" id="162" name="Google Shape;162;p10"/>
          <p:cNvPicPr preferRelativeResize="0"/>
          <p:nvPr/>
        </p:nvPicPr>
        <p:blipFill rotWithShape="1">
          <a:blip r:embed="rId3">
            <a:alphaModFix/>
          </a:blip>
          <a:srcRect b="0" l="0" r="0" t="0"/>
          <a:stretch/>
        </p:blipFill>
        <p:spPr>
          <a:xfrm>
            <a:off x="5166360" y="1325880"/>
            <a:ext cx="2926080" cy="2240280"/>
          </a:xfrm>
          <a:prstGeom prst="rect">
            <a:avLst/>
          </a:prstGeom>
          <a:noFill/>
          <a:ln>
            <a:noFill/>
          </a:ln>
        </p:spPr>
      </p:pic>
      <p:pic>
        <p:nvPicPr>
          <p:cNvPr descr="/mnt/data/spotify_rich_eda_assets/hist_speechiness.png" id="163" name="Google Shape;163;p10"/>
          <p:cNvPicPr preferRelativeResize="0"/>
          <p:nvPr/>
        </p:nvPicPr>
        <p:blipFill rotWithShape="1">
          <a:blip r:embed="rId4">
            <a:alphaModFix/>
          </a:blip>
          <a:srcRect b="0" l="0" r="0" t="0"/>
          <a:stretch/>
        </p:blipFill>
        <p:spPr>
          <a:xfrm>
            <a:off x="8366760" y="1325880"/>
            <a:ext cx="2926080" cy="2240280"/>
          </a:xfrm>
          <a:prstGeom prst="rect">
            <a:avLst/>
          </a:prstGeom>
          <a:noFill/>
          <a:ln>
            <a:noFill/>
          </a:ln>
        </p:spPr>
      </p:pic>
      <p:sp>
        <p:nvSpPr>
          <p:cNvPr id="164" name="Google Shape;164;p10"/>
          <p:cNvSpPr/>
          <p:nvPr/>
        </p:nvSpPr>
        <p:spPr>
          <a:xfrm>
            <a:off x="5257800" y="3977640"/>
            <a:ext cx="5852160" cy="1600200"/>
          </a:xfrm>
          <a:prstGeom prst="roundRect">
            <a:avLst>
              <a:gd fmla="val 4000" name="adj"/>
            </a:avLst>
          </a:prstGeom>
          <a:solidFill>
            <a:srgbClr val="E7F6EC"/>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p:nvPr/>
        </p:nvSpPr>
        <p:spPr>
          <a:xfrm>
            <a:off x="5422392" y="4114800"/>
            <a:ext cx="55229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What this means for the recommender</a:t>
            </a:r>
            <a:endParaRPr b="0" i="0" sz="1350" u="none" cap="none" strike="noStrike">
              <a:solidFill>
                <a:schemeClr val="dk1"/>
              </a:solidFill>
              <a:latin typeface="Arial"/>
              <a:ea typeface="Arial"/>
              <a:cs typeface="Arial"/>
              <a:sym typeface="Arial"/>
            </a:endParaRPr>
          </a:p>
        </p:txBody>
      </p:sp>
      <p:sp>
        <p:nvSpPr>
          <p:cNvPr id="166" name="Google Shape;166;p10"/>
          <p:cNvSpPr/>
          <p:nvPr/>
        </p:nvSpPr>
        <p:spPr>
          <a:xfrm>
            <a:off x="5422392" y="4434840"/>
            <a:ext cx="5522976" cy="103327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A highly skewed feature can create unusually large standardized values for a small number of songs. We will therefore test later whether features such as instrumentalness improve recommendation quality or distort distance.</a:t>
            </a:r>
            <a:endParaRPr b="0" i="0" sz="1120" u="none" cap="none" strike="noStrike">
              <a:solidFill>
                <a:schemeClr val="dk1"/>
              </a:solidFill>
              <a:latin typeface="Arial"/>
              <a:ea typeface="Arial"/>
              <a:cs typeface="Arial"/>
              <a:sym typeface="Arial"/>
            </a:endParaRPr>
          </a:p>
        </p:txBody>
      </p:sp>
      <p:sp>
        <p:nvSpPr>
          <p:cNvPr id="167" name="Google Shape;167;p10"/>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Boxplots: unusual does not mean wrong</a:t>
            </a:r>
            <a:endParaRPr b="0" i="0" sz="2700" u="none" cap="none" strike="noStrike">
              <a:solidFill>
                <a:schemeClr val="dk1"/>
              </a:solidFill>
              <a:latin typeface="Arial"/>
              <a:ea typeface="Arial"/>
              <a:cs typeface="Arial"/>
              <a:sym typeface="Arial"/>
            </a:endParaRPr>
          </a:p>
        </p:txBody>
      </p:sp>
      <p:sp>
        <p:nvSpPr>
          <p:cNvPr id="174" name="Google Shape;174;p11"/>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Extreme musical characteristics may represent genuine genres or performance styles.</a:t>
            </a:r>
            <a:endParaRPr b="0" i="0" sz="1350" u="none" cap="none" strike="noStrike">
              <a:solidFill>
                <a:schemeClr val="dk1"/>
              </a:solidFill>
              <a:latin typeface="Arial"/>
              <a:ea typeface="Arial"/>
              <a:cs typeface="Arial"/>
              <a:sym typeface="Arial"/>
            </a:endParaRPr>
          </a:p>
        </p:txBody>
      </p:sp>
      <p:sp>
        <p:nvSpPr>
          <p:cNvPr id="175" name="Google Shape;175;p11"/>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OUTLIERS</a:t>
            </a:r>
            <a:endParaRPr b="0" i="0" sz="900" u="none" cap="none" strike="noStrike">
              <a:solidFill>
                <a:schemeClr val="dk1"/>
              </a:solidFill>
              <a:latin typeface="Arial"/>
              <a:ea typeface="Arial"/>
              <a:cs typeface="Arial"/>
              <a:sym typeface="Arial"/>
            </a:endParaRPr>
          </a:p>
        </p:txBody>
      </p:sp>
      <p:pic>
        <p:nvPicPr>
          <p:cNvPr descr="/mnt/data/spotify_rich_eda_assets/box_bpm.png" id="177" name="Google Shape;177;p11"/>
          <p:cNvPicPr preferRelativeResize="0"/>
          <p:nvPr/>
        </p:nvPicPr>
        <p:blipFill rotWithShape="1">
          <a:blip r:embed="rId3">
            <a:alphaModFix/>
          </a:blip>
          <a:srcRect b="0" l="0" r="0" t="0"/>
          <a:stretch/>
        </p:blipFill>
        <p:spPr>
          <a:xfrm>
            <a:off x="548640" y="1417320"/>
            <a:ext cx="2743200" cy="2057400"/>
          </a:xfrm>
          <a:prstGeom prst="rect">
            <a:avLst/>
          </a:prstGeom>
          <a:noFill/>
          <a:ln>
            <a:noFill/>
          </a:ln>
        </p:spPr>
      </p:pic>
      <p:pic>
        <p:nvPicPr>
          <p:cNvPr descr="/mnt/data/spotify_rich_eda_assets/box_energy.png" id="178" name="Google Shape;178;p11"/>
          <p:cNvPicPr preferRelativeResize="0"/>
          <p:nvPr/>
        </p:nvPicPr>
        <p:blipFill rotWithShape="1">
          <a:blip r:embed="rId4">
            <a:alphaModFix/>
          </a:blip>
          <a:srcRect b="0" l="0" r="0" t="0"/>
          <a:stretch/>
        </p:blipFill>
        <p:spPr>
          <a:xfrm>
            <a:off x="4023360" y="1417320"/>
            <a:ext cx="2743200" cy="2057400"/>
          </a:xfrm>
          <a:prstGeom prst="rect">
            <a:avLst/>
          </a:prstGeom>
          <a:noFill/>
          <a:ln>
            <a:noFill/>
          </a:ln>
        </p:spPr>
      </p:pic>
      <p:pic>
        <p:nvPicPr>
          <p:cNvPr descr="/mnt/data/spotify_rich_eda_assets/box_instrumentalness.png" id="179" name="Google Shape;179;p11"/>
          <p:cNvPicPr preferRelativeResize="0"/>
          <p:nvPr/>
        </p:nvPicPr>
        <p:blipFill rotWithShape="1">
          <a:blip r:embed="rId5">
            <a:alphaModFix/>
          </a:blip>
          <a:srcRect b="0" l="0" r="0" t="0"/>
          <a:stretch/>
        </p:blipFill>
        <p:spPr>
          <a:xfrm>
            <a:off x="7498080" y="1417320"/>
            <a:ext cx="2743200" cy="2057400"/>
          </a:xfrm>
          <a:prstGeom prst="rect">
            <a:avLst/>
          </a:prstGeom>
          <a:noFill/>
          <a:ln>
            <a:noFill/>
          </a:ln>
        </p:spPr>
      </p:pic>
      <p:pic>
        <p:nvPicPr>
          <p:cNvPr descr="/mnt/data/spotify_rich_eda_assets/box_acousticness.png" id="180" name="Google Shape;180;p11"/>
          <p:cNvPicPr preferRelativeResize="0"/>
          <p:nvPr/>
        </p:nvPicPr>
        <p:blipFill rotWithShape="1">
          <a:blip r:embed="rId6">
            <a:alphaModFix/>
          </a:blip>
          <a:srcRect b="0" l="0" r="0" t="0"/>
          <a:stretch/>
        </p:blipFill>
        <p:spPr>
          <a:xfrm>
            <a:off x="548640" y="3886200"/>
            <a:ext cx="2743200" cy="2057400"/>
          </a:xfrm>
          <a:prstGeom prst="rect">
            <a:avLst/>
          </a:prstGeom>
          <a:noFill/>
          <a:ln>
            <a:noFill/>
          </a:ln>
        </p:spPr>
      </p:pic>
      <p:pic>
        <p:nvPicPr>
          <p:cNvPr descr="/mnt/data/spotify_rich_eda_assets/box_liveness.png" id="181" name="Google Shape;181;p11"/>
          <p:cNvPicPr preferRelativeResize="0"/>
          <p:nvPr/>
        </p:nvPicPr>
        <p:blipFill rotWithShape="1">
          <a:blip r:embed="rId7">
            <a:alphaModFix/>
          </a:blip>
          <a:srcRect b="0" l="0" r="0" t="0"/>
          <a:stretch/>
        </p:blipFill>
        <p:spPr>
          <a:xfrm>
            <a:off x="4023360" y="3886200"/>
            <a:ext cx="2743200" cy="2057400"/>
          </a:xfrm>
          <a:prstGeom prst="rect">
            <a:avLst/>
          </a:prstGeom>
          <a:noFill/>
          <a:ln>
            <a:noFill/>
          </a:ln>
        </p:spPr>
      </p:pic>
      <p:pic>
        <p:nvPicPr>
          <p:cNvPr descr="/mnt/data/spotify_rich_eda_assets/box_speechiness.png" id="182" name="Google Shape;182;p11"/>
          <p:cNvPicPr preferRelativeResize="0"/>
          <p:nvPr/>
        </p:nvPicPr>
        <p:blipFill rotWithShape="1">
          <a:blip r:embed="rId8">
            <a:alphaModFix/>
          </a:blip>
          <a:srcRect b="0" l="0" r="0" t="0"/>
          <a:stretch/>
        </p:blipFill>
        <p:spPr>
          <a:xfrm>
            <a:off x="7498080" y="3886200"/>
            <a:ext cx="2743200" cy="2057400"/>
          </a:xfrm>
          <a:prstGeom prst="rect">
            <a:avLst/>
          </a:prstGeom>
          <a:noFill/>
          <a:ln>
            <a:noFill/>
          </a:ln>
        </p:spPr>
      </p:pic>
      <p:sp>
        <p:nvSpPr>
          <p:cNvPr id="183" name="Google Shape;183;p11"/>
          <p:cNvSpPr/>
          <p:nvPr/>
        </p:nvSpPr>
        <p:spPr>
          <a:xfrm>
            <a:off x="8549640" y="5916168"/>
            <a:ext cx="288036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28C28"/>
              </a:buClr>
              <a:buSzPts val="1150"/>
              <a:buFont typeface="Arial"/>
              <a:buNone/>
            </a:pPr>
            <a:r>
              <a:rPr b="1" i="0" lang="en-US" sz="1150" u="none" cap="none" strike="noStrike">
                <a:solidFill>
                  <a:srgbClr val="F28C28"/>
                </a:solidFill>
                <a:latin typeface="Arial"/>
                <a:ea typeface="Arial"/>
                <a:cs typeface="Arial"/>
                <a:sym typeface="Arial"/>
              </a:rPr>
              <a:t>EDA decision: investigate extreme observations before deciding whether any should be removed.</a:t>
            </a:r>
            <a:endParaRPr b="0" i="0" sz="1150" u="none" cap="none" strike="noStrike">
              <a:solidFill>
                <a:schemeClr val="dk1"/>
              </a:solidFill>
              <a:latin typeface="Arial"/>
              <a:ea typeface="Arial"/>
              <a:cs typeface="Arial"/>
              <a:sym typeface="Arial"/>
            </a:endParaRPr>
          </a:p>
        </p:txBody>
      </p:sp>
      <p:sp>
        <p:nvSpPr>
          <p:cNvPr id="184" name="Google Shape;184;p11"/>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Catalog context</a:t>
            </a:r>
            <a:endParaRPr b="0" i="0" sz="2700" u="none" cap="none" strike="noStrike">
              <a:solidFill>
                <a:schemeClr val="dk1"/>
              </a:solidFill>
              <a:latin typeface="Arial"/>
              <a:ea typeface="Arial"/>
              <a:cs typeface="Arial"/>
              <a:sym typeface="Arial"/>
            </a:endParaRPr>
          </a:p>
        </p:txBody>
      </p:sp>
      <p:sp>
        <p:nvSpPr>
          <p:cNvPr id="191" name="Google Shape;191;p12"/>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What kind of music pool are we actually recommending from?</a:t>
            </a:r>
            <a:endParaRPr b="0" i="0" sz="1350" u="none" cap="none" strike="noStrike">
              <a:solidFill>
                <a:schemeClr val="dk1"/>
              </a:solidFill>
              <a:latin typeface="Arial"/>
              <a:ea typeface="Arial"/>
              <a:cs typeface="Arial"/>
              <a:sym typeface="Arial"/>
            </a:endParaRPr>
          </a:p>
        </p:txBody>
      </p:sp>
      <p:sp>
        <p:nvSpPr>
          <p:cNvPr id="192" name="Google Shape;192;p12"/>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2"/>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CONTEXT</a:t>
            </a:r>
            <a:endParaRPr b="0" i="0" sz="900" u="none" cap="none" strike="noStrike">
              <a:solidFill>
                <a:schemeClr val="dk1"/>
              </a:solidFill>
              <a:latin typeface="Arial"/>
              <a:ea typeface="Arial"/>
              <a:cs typeface="Arial"/>
              <a:sym typeface="Arial"/>
            </a:endParaRPr>
          </a:p>
        </p:txBody>
      </p:sp>
      <p:pic>
        <p:nvPicPr>
          <p:cNvPr descr="/mnt/data/spotify_rich_eda_assets/release_year_distribution.png" id="194" name="Google Shape;194;p12"/>
          <p:cNvPicPr preferRelativeResize="0"/>
          <p:nvPr/>
        </p:nvPicPr>
        <p:blipFill rotWithShape="1">
          <a:blip r:embed="rId3">
            <a:alphaModFix/>
          </a:blip>
          <a:srcRect b="0" l="0" r="0" t="0"/>
          <a:stretch/>
        </p:blipFill>
        <p:spPr>
          <a:xfrm>
            <a:off x="640080" y="1325880"/>
            <a:ext cx="5486400" cy="3749040"/>
          </a:xfrm>
          <a:prstGeom prst="rect">
            <a:avLst/>
          </a:prstGeom>
          <a:noFill/>
          <a:ln>
            <a:noFill/>
          </a:ln>
        </p:spPr>
      </p:pic>
      <p:pic>
        <p:nvPicPr>
          <p:cNvPr descr="/mnt/data/spotify_rich_eda_assets/artist_count_distribution.png" id="195" name="Google Shape;195;p12"/>
          <p:cNvPicPr preferRelativeResize="0"/>
          <p:nvPr/>
        </p:nvPicPr>
        <p:blipFill rotWithShape="1">
          <a:blip r:embed="rId4">
            <a:alphaModFix/>
          </a:blip>
          <a:srcRect b="0" l="0" r="0" t="0"/>
          <a:stretch/>
        </p:blipFill>
        <p:spPr>
          <a:xfrm>
            <a:off x="6355080" y="1325880"/>
            <a:ext cx="5166360" cy="3749040"/>
          </a:xfrm>
          <a:prstGeom prst="rect">
            <a:avLst/>
          </a:prstGeom>
          <a:noFill/>
          <a:ln>
            <a:noFill/>
          </a:ln>
        </p:spPr>
      </p:pic>
      <p:sp>
        <p:nvSpPr>
          <p:cNvPr id="196" name="Google Shape;196;p12"/>
          <p:cNvSpPr/>
          <p:nvPr/>
        </p:nvSpPr>
        <p:spPr>
          <a:xfrm>
            <a:off x="777240" y="5303520"/>
            <a:ext cx="5029200" cy="868680"/>
          </a:xfrm>
          <a:prstGeom prst="roundRect">
            <a:avLst>
              <a:gd fmla="val 7368" name="adj"/>
            </a:avLst>
          </a:prstGeom>
          <a:solidFill>
            <a:srgbClr val="E7F6EC"/>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2"/>
          <p:cNvSpPr/>
          <p:nvPr/>
        </p:nvSpPr>
        <p:spPr>
          <a:xfrm>
            <a:off x="941832" y="5440680"/>
            <a:ext cx="47000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Catalog age</a:t>
            </a:r>
            <a:endParaRPr b="0" i="0" sz="1350" u="none" cap="none" strike="noStrike">
              <a:solidFill>
                <a:schemeClr val="dk1"/>
              </a:solidFill>
              <a:latin typeface="Arial"/>
              <a:ea typeface="Arial"/>
              <a:cs typeface="Arial"/>
              <a:sym typeface="Arial"/>
            </a:endParaRPr>
          </a:p>
        </p:txBody>
      </p:sp>
      <p:sp>
        <p:nvSpPr>
          <p:cNvPr id="198" name="Google Shape;198;p12"/>
          <p:cNvSpPr/>
          <p:nvPr/>
        </p:nvSpPr>
        <p:spPr>
          <a:xfrm>
            <a:off x="941832" y="5760720"/>
            <a:ext cx="4700016" cy="30175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76.9% of songs were released in 2020 or later; the median release year is 2022.</a:t>
            </a:r>
            <a:endParaRPr b="0" i="0" sz="1120" u="none" cap="none" strike="noStrike">
              <a:solidFill>
                <a:schemeClr val="dk1"/>
              </a:solidFill>
              <a:latin typeface="Arial"/>
              <a:ea typeface="Arial"/>
              <a:cs typeface="Arial"/>
              <a:sym typeface="Arial"/>
            </a:endParaRPr>
          </a:p>
        </p:txBody>
      </p:sp>
      <p:sp>
        <p:nvSpPr>
          <p:cNvPr id="199" name="Google Shape;199;p12"/>
          <p:cNvSpPr/>
          <p:nvPr/>
        </p:nvSpPr>
        <p:spPr>
          <a:xfrm>
            <a:off x="6355080" y="5303520"/>
            <a:ext cx="5029200" cy="868680"/>
          </a:xfrm>
          <a:prstGeom prst="roundRect">
            <a:avLst>
              <a:gd fmla="val 7368" name="adj"/>
            </a:avLst>
          </a:prstGeom>
          <a:solidFill>
            <a:srgbClr val="E7F6EC"/>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
          <p:cNvSpPr/>
          <p:nvPr/>
        </p:nvSpPr>
        <p:spPr>
          <a:xfrm>
            <a:off x="6519672" y="5440680"/>
            <a:ext cx="47000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Artist structure</a:t>
            </a:r>
            <a:endParaRPr b="0" i="0" sz="1350" u="none" cap="none" strike="noStrike">
              <a:solidFill>
                <a:schemeClr val="dk1"/>
              </a:solidFill>
              <a:latin typeface="Arial"/>
              <a:ea typeface="Arial"/>
              <a:cs typeface="Arial"/>
              <a:sym typeface="Arial"/>
            </a:endParaRPr>
          </a:p>
        </p:txBody>
      </p:sp>
      <p:sp>
        <p:nvSpPr>
          <p:cNvPr id="201" name="Google Shape;201;p12"/>
          <p:cNvSpPr/>
          <p:nvPr/>
        </p:nvSpPr>
        <p:spPr>
          <a:xfrm>
            <a:off x="6519672" y="5760720"/>
            <a:ext cx="4700016" cy="30175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587 of 953 tracks are single-artist songs; collaborations still make up a substantial part of the catalog.</a:t>
            </a:r>
            <a:endParaRPr b="0" i="0" sz="1120" u="none" cap="none" strike="noStrike">
              <a:solidFill>
                <a:schemeClr val="dk1"/>
              </a:solidFill>
              <a:latin typeface="Arial"/>
              <a:ea typeface="Arial"/>
              <a:cs typeface="Arial"/>
              <a:sym typeface="Arial"/>
            </a:endParaRPr>
          </a:p>
        </p:txBody>
      </p:sp>
      <p:sp>
        <p:nvSpPr>
          <p:cNvPr id="202" name="Google Shape;202;p12"/>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Correlation matrix</a:t>
            </a:r>
            <a:endParaRPr b="0" i="0" sz="2700" u="none" cap="none" strike="noStrike">
              <a:solidFill>
                <a:schemeClr val="dk1"/>
              </a:solidFill>
              <a:latin typeface="Arial"/>
              <a:ea typeface="Arial"/>
              <a:cs typeface="Arial"/>
              <a:sym typeface="Arial"/>
            </a:endParaRPr>
          </a:p>
        </p:txBody>
      </p:sp>
      <p:sp>
        <p:nvSpPr>
          <p:cNvPr id="209" name="Google Shape;209;p13"/>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We check whether some audio variables carry largely redundant information.</a:t>
            </a:r>
            <a:endParaRPr b="0" i="0" sz="1350" u="none" cap="none" strike="noStrike">
              <a:solidFill>
                <a:schemeClr val="dk1"/>
              </a:solidFill>
              <a:latin typeface="Arial"/>
              <a:ea typeface="Arial"/>
              <a:cs typeface="Arial"/>
              <a:sym typeface="Arial"/>
            </a:endParaRPr>
          </a:p>
        </p:txBody>
      </p:sp>
      <p:sp>
        <p:nvSpPr>
          <p:cNvPr id="210" name="Google Shape;210;p13"/>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3"/>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RELATIONSHIPS</a:t>
            </a:r>
            <a:endParaRPr b="0" i="0" sz="900" u="none" cap="none" strike="noStrike">
              <a:solidFill>
                <a:schemeClr val="dk1"/>
              </a:solidFill>
              <a:latin typeface="Arial"/>
              <a:ea typeface="Arial"/>
              <a:cs typeface="Arial"/>
              <a:sym typeface="Arial"/>
            </a:endParaRPr>
          </a:p>
        </p:txBody>
      </p:sp>
      <p:pic>
        <p:nvPicPr>
          <p:cNvPr descr="/mnt/data/spotify_rich_eda_assets/correlation_heatmap.png" id="212" name="Google Shape;212;p13"/>
          <p:cNvPicPr preferRelativeResize="0"/>
          <p:nvPr/>
        </p:nvPicPr>
        <p:blipFill rotWithShape="1">
          <a:blip r:embed="rId3">
            <a:alphaModFix/>
          </a:blip>
          <a:srcRect b="0" l="0" r="0" t="0"/>
          <a:stretch/>
        </p:blipFill>
        <p:spPr>
          <a:xfrm>
            <a:off x="502920" y="1234440"/>
            <a:ext cx="6675120" cy="5074920"/>
          </a:xfrm>
          <a:prstGeom prst="rect">
            <a:avLst/>
          </a:prstGeom>
          <a:noFill/>
          <a:ln>
            <a:noFill/>
          </a:ln>
        </p:spPr>
      </p:pic>
      <p:sp>
        <p:nvSpPr>
          <p:cNvPr id="213" name="Google Shape;213;p13"/>
          <p:cNvSpPr/>
          <p:nvPr/>
        </p:nvSpPr>
        <p:spPr>
          <a:xfrm>
            <a:off x="7543800" y="1417320"/>
            <a:ext cx="3977640" cy="1143000"/>
          </a:xfrm>
          <a:prstGeom prst="roundRect">
            <a:avLst>
              <a:gd fmla="val 5600" name="adj"/>
            </a:avLst>
          </a:prstGeom>
          <a:solidFill>
            <a:srgbClr val="E7F6EC"/>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3"/>
          <p:cNvSpPr/>
          <p:nvPr/>
        </p:nvSpPr>
        <p:spPr>
          <a:xfrm>
            <a:off x="7708392" y="1554480"/>
            <a:ext cx="36484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Strongest relationship</a:t>
            </a:r>
            <a:endParaRPr b="0" i="0" sz="1350" u="none" cap="none" strike="noStrike">
              <a:solidFill>
                <a:schemeClr val="dk1"/>
              </a:solidFill>
              <a:latin typeface="Arial"/>
              <a:ea typeface="Arial"/>
              <a:cs typeface="Arial"/>
              <a:sym typeface="Arial"/>
            </a:endParaRPr>
          </a:p>
        </p:txBody>
      </p:sp>
      <p:sp>
        <p:nvSpPr>
          <p:cNvPr id="215" name="Google Shape;215;p13"/>
          <p:cNvSpPr/>
          <p:nvPr/>
        </p:nvSpPr>
        <p:spPr>
          <a:xfrm>
            <a:off x="7708392" y="1874520"/>
            <a:ext cx="3648456" cy="57607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Energy vs acousticness: r = -0.58. More acoustic tracks tend to have lower energy.</a:t>
            </a:r>
            <a:endParaRPr b="0" i="0" sz="1120" u="none" cap="none" strike="noStrike">
              <a:solidFill>
                <a:schemeClr val="dk1"/>
              </a:solidFill>
              <a:latin typeface="Arial"/>
              <a:ea typeface="Arial"/>
              <a:cs typeface="Arial"/>
              <a:sym typeface="Arial"/>
            </a:endParaRPr>
          </a:p>
        </p:txBody>
      </p:sp>
      <p:sp>
        <p:nvSpPr>
          <p:cNvPr id="216" name="Google Shape;216;p13"/>
          <p:cNvSpPr/>
          <p:nvPr/>
        </p:nvSpPr>
        <p:spPr>
          <a:xfrm>
            <a:off x="7543800" y="2788920"/>
            <a:ext cx="3977640" cy="1143000"/>
          </a:xfrm>
          <a:prstGeom prst="roundRect">
            <a:avLst>
              <a:gd fmla="val 5600"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3"/>
          <p:cNvSpPr/>
          <p:nvPr/>
        </p:nvSpPr>
        <p:spPr>
          <a:xfrm>
            <a:off x="7708392" y="2926080"/>
            <a:ext cx="36484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Positive relationship</a:t>
            </a:r>
            <a:endParaRPr b="0" i="0" sz="1350" u="none" cap="none" strike="noStrike">
              <a:solidFill>
                <a:schemeClr val="dk1"/>
              </a:solidFill>
              <a:latin typeface="Arial"/>
              <a:ea typeface="Arial"/>
              <a:cs typeface="Arial"/>
              <a:sym typeface="Arial"/>
            </a:endParaRPr>
          </a:p>
        </p:txBody>
      </p:sp>
      <p:sp>
        <p:nvSpPr>
          <p:cNvPr id="218" name="Google Shape;218;p13"/>
          <p:cNvSpPr/>
          <p:nvPr/>
        </p:nvSpPr>
        <p:spPr>
          <a:xfrm>
            <a:off x="7708392" y="3246120"/>
            <a:ext cx="3648456" cy="57607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Danceability vs valence: r = 0.41. More danceable songs tend to have somewhat higher valence.</a:t>
            </a:r>
            <a:endParaRPr b="0" i="0" sz="1120" u="none" cap="none" strike="noStrike">
              <a:solidFill>
                <a:schemeClr val="dk1"/>
              </a:solidFill>
              <a:latin typeface="Arial"/>
              <a:ea typeface="Arial"/>
              <a:cs typeface="Arial"/>
              <a:sym typeface="Arial"/>
            </a:endParaRPr>
          </a:p>
        </p:txBody>
      </p:sp>
      <p:sp>
        <p:nvSpPr>
          <p:cNvPr id="219" name="Google Shape;219;p13"/>
          <p:cNvSpPr/>
          <p:nvPr/>
        </p:nvSpPr>
        <p:spPr>
          <a:xfrm>
            <a:off x="7543800" y="4160520"/>
            <a:ext cx="3977640" cy="1143000"/>
          </a:xfrm>
          <a:prstGeom prst="roundRect">
            <a:avLst>
              <a:gd fmla="val 5600"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
          <p:cNvSpPr/>
          <p:nvPr/>
        </p:nvSpPr>
        <p:spPr>
          <a:xfrm>
            <a:off x="7708392" y="4297680"/>
            <a:ext cx="36484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Redundancy check</a:t>
            </a:r>
            <a:endParaRPr b="0" i="0" sz="1350" u="none" cap="none" strike="noStrike">
              <a:solidFill>
                <a:schemeClr val="dk1"/>
              </a:solidFill>
              <a:latin typeface="Arial"/>
              <a:ea typeface="Arial"/>
              <a:cs typeface="Arial"/>
              <a:sym typeface="Arial"/>
            </a:endParaRPr>
          </a:p>
        </p:txBody>
      </p:sp>
      <p:sp>
        <p:nvSpPr>
          <p:cNvPr id="221" name="Google Shape;221;p13"/>
          <p:cNvSpPr/>
          <p:nvPr/>
        </p:nvSpPr>
        <p:spPr>
          <a:xfrm>
            <a:off x="7708392" y="4617720"/>
            <a:ext cx="3648456" cy="57607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No pair is close to ±1. At this stage, there is no obvious feature that should be removed simply because it duplicates another.</a:t>
            </a:r>
            <a:endParaRPr b="0" i="0" sz="1120" u="none" cap="none" strike="noStrike">
              <a:solidFill>
                <a:schemeClr val="dk1"/>
              </a:solidFill>
              <a:latin typeface="Arial"/>
              <a:ea typeface="Arial"/>
              <a:cs typeface="Arial"/>
              <a:sym typeface="Arial"/>
            </a:endParaRPr>
          </a:p>
        </p:txBody>
      </p:sp>
      <p:sp>
        <p:nvSpPr>
          <p:cNvPr id="222" name="Google Shape;222;p13"/>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4"/>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Scatterplots make the correlations tangible</a:t>
            </a:r>
            <a:endParaRPr b="0" i="0" sz="2700" u="none" cap="none" strike="noStrike">
              <a:solidFill>
                <a:schemeClr val="dk1"/>
              </a:solidFill>
              <a:latin typeface="Arial"/>
              <a:ea typeface="Arial"/>
              <a:cs typeface="Arial"/>
              <a:sym typeface="Arial"/>
            </a:endParaRPr>
          </a:p>
        </p:txBody>
      </p:sp>
      <p:sp>
        <p:nvSpPr>
          <p:cNvPr id="229" name="Google Shape;229;p14"/>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The same correlation coefficient can hide very different point patterns, so we inspect the actual observations.</a:t>
            </a:r>
            <a:endParaRPr b="0" i="0" sz="1350" u="none" cap="none" strike="noStrike">
              <a:solidFill>
                <a:schemeClr val="dk1"/>
              </a:solidFill>
              <a:latin typeface="Arial"/>
              <a:ea typeface="Arial"/>
              <a:cs typeface="Arial"/>
              <a:sym typeface="Arial"/>
            </a:endParaRPr>
          </a:p>
        </p:txBody>
      </p:sp>
      <p:sp>
        <p:nvSpPr>
          <p:cNvPr id="230" name="Google Shape;230;p14"/>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SCATTERPLOTS</a:t>
            </a:r>
            <a:endParaRPr b="0" i="0" sz="900" u="none" cap="none" strike="noStrike">
              <a:solidFill>
                <a:schemeClr val="dk1"/>
              </a:solidFill>
              <a:latin typeface="Arial"/>
              <a:ea typeface="Arial"/>
              <a:cs typeface="Arial"/>
              <a:sym typeface="Arial"/>
            </a:endParaRPr>
          </a:p>
        </p:txBody>
      </p:sp>
      <p:pic>
        <p:nvPicPr>
          <p:cNvPr descr="/mnt/data/spotify_rich_eda_assets/scatter_acousticness_energy.png" id="232" name="Google Shape;232;p14"/>
          <p:cNvPicPr preferRelativeResize="0"/>
          <p:nvPr/>
        </p:nvPicPr>
        <p:blipFill rotWithShape="1">
          <a:blip r:embed="rId3">
            <a:alphaModFix/>
          </a:blip>
          <a:srcRect b="0" l="0" r="0" t="0"/>
          <a:stretch/>
        </p:blipFill>
        <p:spPr>
          <a:xfrm>
            <a:off x="502920" y="1325880"/>
            <a:ext cx="3657600" cy="2834640"/>
          </a:xfrm>
          <a:prstGeom prst="rect">
            <a:avLst/>
          </a:prstGeom>
          <a:noFill/>
          <a:ln>
            <a:noFill/>
          </a:ln>
        </p:spPr>
      </p:pic>
      <p:pic>
        <p:nvPicPr>
          <p:cNvPr descr="/mnt/data/spotify_rich_eda_assets/scatter_danceability_valence.png" id="233" name="Google Shape;233;p14"/>
          <p:cNvPicPr preferRelativeResize="0"/>
          <p:nvPr/>
        </p:nvPicPr>
        <p:blipFill rotWithShape="1">
          <a:blip r:embed="rId4">
            <a:alphaModFix/>
          </a:blip>
          <a:srcRect b="0" l="0" r="0" t="0"/>
          <a:stretch/>
        </p:blipFill>
        <p:spPr>
          <a:xfrm>
            <a:off x="4297680" y="1325880"/>
            <a:ext cx="3657600" cy="2834640"/>
          </a:xfrm>
          <a:prstGeom prst="rect">
            <a:avLst/>
          </a:prstGeom>
          <a:noFill/>
          <a:ln>
            <a:noFill/>
          </a:ln>
        </p:spPr>
      </p:pic>
      <p:pic>
        <p:nvPicPr>
          <p:cNvPr descr="/mnt/data/spotify_rich_eda_assets/scatter_energy_valence.png" id="234" name="Google Shape;234;p14"/>
          <p:cNvPicPr preferRelativeResize="0"/>
          <p:nvPr/>
        </p:nvPicPr>
        <p:blipFill rotWithShape="1">
          <a:blip r:embed="rId5">
            <a:alphaModFix/>
          </a:blip>
          <a:srcRect b="0" l="0" r="0" t="0"/>
          <a:stretch/>
        </p:blipFill>
        <p:spPr>
          <a:xfrm>
            <a:off x="8092440" y="1325880"/>
            <a:ext cx="3657600" cy="2834640"/>
          </a:xfrm>
          <a:prstGeom prst="rect">
            <a:avLst/>
          </a:prstGeom>
          <a:noFill/>
          <a:ln>
            <a:noFill/>
          </a:ln>
        </p:spPr>
      </p:pic>
      <p:sp>
        <p:nvSpPr>
          <p:cNvPr id="235" name="Google Shape;235;p14"/>
          <p:cNvSpPr/>
          <p:nvPr/>
        </p:nvSpPr>
        <p:spPr>
          <a:xfrm>
            <a:off x="731520" y="4526280"/>
            <a:ext cx="3246120" cy="1234440"/>
          </a:xfrm>
          <a:prstGeom prst="roundRect">
            <a:avLst>
              <a:gd fmla="val 5185"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4"/>
          <p:cNvSpPr/>
          <p:nvPr/>
        </p:nvSpPr>
        <p:spPr>
          <a:xfrm>
            <a:off x="896112" y="466344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Energy vs acousticness</a:t>
            </a:r>
            <a:endParaRPr b="0" i="0" sz="1350" u="none" cap="none" strike="noStrike">
              <a:solidFill>
                <a:schemeClr val="dk1"/>
              </a:solidFill>
              <a:latin typeface="Arial"/>
              <a:ea typeface="Arial"/>
              <a:cs typeface="Arial"/>
              <a:sym typeface="Arial"/>
            </a:endParaRPr>
          </a:p>
        </p:txBody>
      </p:sp>
      <p:sp>
        <p:nvSpPr>
          <p:cNvPr id="237" name="Google Shape;237;p14"/>
          <p:cNvSpPr/>
          <p:nvPr/>
        </p:nvSpPr>
        <p:spPr>
          <a:xfrm>
            <a:off x="896112" y="4983480"/>
            <a:ext cx="2916936" cy="66751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Clear downward tendency, but substantial scatter remains. Musical similarity cannot be reduced to one relationship.</a:t>
            </a:r>
            <a:endParaRPr b="0" i="0" sz="1120" u="none" cap="none" strike="noStrike">
              <a:solidFill>
                <a:schemeClr val="dk1"/>
              </a:solidFill>
              <a:latin typeface="Arial"/>
              <a:ea typeface="Arial"/>
              <a:cs typeface="Arial"/>
              <a:sym typeface="Arial"/>
            </a:endParaRPr>
          </a:p>
        </p:txBody>
      </p:sp>
      <p:sp>
        <p:nvSpPr>
          <p:cNvPr id="238" name="Google Shape;238;p14"/>
          <p:cNvSpPr/>
          <p:nvPr/>
        </p:nvSpPr>
        <p:spPr>
          <a:xfrm>
            <a:off x="4480560" y="4526280"/>
            <a:ext cx="3246120" cy="1234440"/>
          </a:xfrm>
          <a:prstGeom prst="roundRect">
            <a:avLst>
              <a:gd fmla="val 5185"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p:nvPr/>
        </p:nvSpPr>
        <p:spPr>
          <a:xfrm>
            <a:off x="4645152" y="466344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Danceability vs valence</a:t>
            </a:r>
            <a:endParaRPr b="0" i="0" sz="1350" u="none" cap="none" strike="noStrike">
              <a:solidFill>
                <a:schemeClr val="dk1"/>
              </a:solidFill>
              <a:latin typeface="Arial"/>
              <a:ea typeface="Arial"/>
              <a:cs typeface="Arial"/>
              <a:sym typeface="Arial"/>
            </a:endParaRPr>
          </a:p>
        </p:txBody>
      </p:sp>
      <p:sp>
        <p:nvSpPr>
          <p:cNvPr id="240" name="Google Shape;240;p14"/>
          <p:cNvSpPr/>
          <p:nvPr/>
        </p:nvSpPr>
        <p:spPr>
          <a:xfrm>
            <a:off x="4645152" y="4983480"/>
            <a:ext cx="2916936" cy="66751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A moderate positive trend: more danceable songs often have higher valence, but the relationship is far from deterministic.</a:t>
            </a:r>
            <a:endParaRPr b="0" i="0" sz="1120" u="none" cap="none" strike="noStrike">
              <a:solidFill>
                <a:schemeClr val="dk1"/>
              </a:solidFill>
              <a:latin typeface="Arial"/>
              <a:ea typeface="Arial"/>
              <a:cs typeface="Arial"/>
              <a:sym typeface="Arial"/>
            </a:endParaRPr>
          </a:p>
        </p:txBody>
      </p:sp>
      <p:sp>
        <p:nvSpPr>
          <p:cNvPr id="241" name="Google Shape;241;p14"/>
          <p:cNvSpPr/>
          <p:nvPr/>
        </p:nvSpPr>
        <p:spPr>
          <a:xfrm>
            <a:off x="8229600" y="4526280"/>
            <a:ext cx="3246120" cy="1234440"/>
          </a:xfrm>
          <a:prstGeom prst="roundRect">
            <a:avLst>
              <a:gd fmla="val 5185"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
          <p:cNvSpPr/>
          <p:nvPr/>
        </p:nvSpPr>
        <p:spPr>
          <a:xfrm>
            <a:off x="8394192" y="466344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Energy vs valence</a:t>
            </a:r>
            <a:endParaRPr b="0" i="0" sz="1350" u="none" cap="none" strike="noStrike">
              <a:solidFill>
                <a:schemeClr val="dk1"/>
              </a:solidFill>
              <a:latin typeface="Arial"/>
              <a:ea typeface="Arial"/>
              <a:cs typeface="Arial"/>
              <a:sym typeface="Arial"/>
            </a:endParaRPr>
          </a:p>
        </p:txBody>
      </p:sp>
      <p:sp>
        <p:nvSpPr>
          <p:cNvPr id="243" name="Google Shape;243;p14"/>
          <p:cNvSpPr/>
          <p:nvPr/>
        </p:nvSpPr>
        <p:spPr>
          <a:xfrm>
            <a:off x="8394192" y="4983480"/>
            <a:ext cx="2916936" cy="66751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A weaker positive relationship, suggesting these features still capture different aspects of a song.</a:t>
            </a:r>
            <a:endParaRPr b="0" i="0" sz="1120" u="none" cap="none" strike="noStrike">
              <a:solidFill>
                <a:schemeClr val="dk1"/>
              </a:solidFill>
              <a:latin typeface="Arial"/>
              <a:ea typeface="Arial"/>
              <a:cs typeface="Arial"/>
              <a:sym typeface="Arial"/>
            </a:endParaRPr>
          </a:p>
        </p:txBody>
      </p:sp>
      <p:sp>
        <p:nvSpPr>
          <p:cNvPr id="244" name="Google Shape;244;p14"/>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5"/>
          <p:cNvSpPr/>
          <p:nvPr/>
        </p:nvSpPr>
        <p:spPr>
          <a:xfrm>
            <a:off x="548640" y="384048"/>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700"/>
              <a:buFont typeface="Play"/>
              <a:buNone/>
            </a:pPr>
            <a:r>
              <a:rPr b="1" i="0" lang="en-US" sz="2700" u="none" cap="none" strike="noStrike">
                <a:solidFill>
                  <a:srgbClr val="111111"/>
                </a:solidFill>
                <a:latin typeface="Play"/>
                <a:ea typeface="Play"/>
                <a:cs typeface="Play"/>
                <a:sym typeface="Play"/>
              </a:rPr>
              <a:t>What the EDA tells us — and what comes next</a:t>
            </a:r>
            <a:endParaRPr b="0" i="0" sz="2700" u="none" cap="none" strike="noStrike">
              <a:solidFill>
                <a:schemeClr val="dk1"/>
              </a:solidFill>
              <a:latin typeface="Arial"/>
              <a:ea typeface="Arial"/>
              <a:cs typeface="Arial"/>
              <a:sym typeface="Arial"/>
            </a:endParaRPr>
          </a:p>
        </p:txBody>
      </p:sp>
      <p:sp>
        <p:nvSpPr>
          <p:cNvPr id="251" name="Google Shape;251;p15"/>
          <p:cNvSpPr/>
          <p:nvPr/>
        </p:nvSpPr>
        <p:spPr>
          <a:xfrm>
            <a:off x="566928" y="914400"/>
            <a:ext cx="10789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61"/>
              </a:buClr>
              <a:buSzPts val="1350"/>
              <a:buFont typeface="Arial"/>
              <a:buNone/>
            </a:pPr>
            <a:r>
              <a:rPr b="0" i="0" lang="en-US" sz="1350" u="none" cap="none" strike="noStrike">
                <a:solidFill>
                  <a:srgbClr val="5E6661"/>
                </a:solidFill>
                <a:latin typeface="Arial"/>
                <a:ea typeface="Arial"/>
                <a:cs typeface="Arial"/>
                <a:sym typeface="Arial"/>
              </a:rPr>
              <a:t>The exploratory analysis now gives us concrete modeling decisions.</a:t>
            </a:r>
            <a:endParaRPr b="0" i="0" sz="1350" u="none" cap="none" strike="noStrike">
              <a:solidFill>
                <a:schemeClr val="dk1"/>
              </a:solidFill>
              <a:latin typeface="Arial"/>
              <a:ea typeface="Arial"/>
              <a:cs typeface="Arial"/>
              <a:sym typeface="Arial"/>
            </a:endParaRPr>
          </a:p>
        </p:txBody>
      </p:sp>
      <p:sp>
        <p:nvSpPr>
          <p:cNvPr id="252" name="Google Shape;252;p15"/>
          <p:cNvSpPr/>
          <p:nvPr/>
        </p:nvSpPr>
        <p:spPr>
          <a:xfrm>
            <a:off x="9829800" y="438912"/>
            <a:ext cx="1783080" cy="310896"/>
          </a:xfrm>
          <a:prstGeom prst="roundRect">
            <a:avLst>
              <a:gd fmla="val 14706" name="adj"/>
            </a:avLst>
          </a:prstGeom>
          <a:solidFill>
            <a:srgbClr val="E7F6EC"/>
          </a:solidFill>
          <a:ln cap="flat" cmpd="sng" w="12700">
            <a:solidFill>
              <a:srgbClr val="E7F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9921240" y="502920"/>
            <a:ext cx="1600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B954"/>
              </a:buClr>
              <a:buSzPts val="900"/>
              <a:buFont typeface="Arial"/>
              <a:buNone/>
            </a:pPr>
            <a:r>
              <a:rPr b="1" i="0" lang="en-US" sz="900" u="none" cap="none" strike="noStrike">
                <a:solidFill>
                  <a:srgbClr val="1DB954"/>
                </a:solidFill>
                <a:latin typeface="Arial"/>
                <a:ea typeface="Arial"/>
                <a:cs typeface="Arial"/>
                <a:sym typeface="Arial"/>
              </a:rPr>
              <a:t>TAKEAWAYS</a:t>
            </a:r>
            <a:endParaRPr b="0" i="0" sz="900" u="none" cap="none" strike="noStrike">
              <a:solidFill>
                <a:schemeClr val="dk1"/>
              </a:solidFill>
              <a:latin typeface="Arial"/>
              <a:ea typeface="Arial"/>
              <a:cs typeface="Arial"/>
              <a:sym typeface="Arial"/>
            </a:endParaRPr>
          </a:p>
        </p:txBody>
      </p:sp>
      <p:sp>
        <p:nvSpPr>
          <p:cNvPr id="254" name="Google Shape;254;p15"/>
          <p:cNvSpPr/>
          <p:nvPr/>
        </p:nvSpPr>
        <p:spPr>
          <a:xfrm>
            <a:off x="685800" y="1280160"/>
            <a:ext cx="5257800" cy="1234440"/>
          </a:xfrm>
          <a:prstGeom prst="roundRect">
            <a:avLst>
              <a:gd fmla="val 5185" name="adj"/>
            </a:avLst>
          </a:prstGeom>
          <a:solidFill>
            <a:srgbClr val="E7F6EC"/>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850392" y="141732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Complete feature set</a:t>
            </a:r>
            <a:endParaRPr b="0" i="0" sz="1350" u="none" cap="none" strike="noStrike">
              <a:solidFill>
                <a:schemeClr val="dk1"/>
              </a:solidFill>
              <a:latin typeface="Arial"/>
              <a:ea typeface="Arial"/>
              <a:cs typeface="Arial"/>
              <a:sym typeface="Arial"/>
            </a:endParaRPr>
          </a:p>
        </p:txBody>
      </p:sp>
      <p:sp>
        <p:nvSpPr>
          <p:cNvPr id="256" name="Google Shape;256;p15"/>
          <p:cNvSpPr/>
          <p:nvPr/>
        </p:nvSpPr>
        <p:spPr>
          <a:xfrm>
            <a:off x="850392" y="1737360"/>
            <a:ext cx="4928616" cy="66751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All 8 audio features have complete observations.</a:t>
            </a:r>
            <a:endParaRPr b="0" i="0" sz="1120" u="none" cap="none" strike="noStrike">
              <a:solidFill>
                <a:schemeClr val="dk1"/>
              </a:solidFill>
              <a:latin typeface="Arial"/>
              <a:ea typeface="Arial"/>
              <a:cs typeface="Arial"/>
              <a:sym typeface="Arial"/>
            </a:endParaRPr>
          </a:p>
        </p:txBody>
      </p:sp>
      <p:sp>
        <p:nvSpPr>
          <p:cNvPr id="257" name="Google Shape;257;p15"/>
          <p:cNvSpPr/>
          <p:nvPr/>
        </p:nvSpPr>
        <p:spPr>
          <a:xfrm>
            <a:off x="685800" y="2834640"/>
            <a:ext cx="5257800" cy="1234440"/>
          </a:xfrm>
          <a:prstGeom prst="roundRect">
            <a:avLst>
              <a:gd fmla="val 5185"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5"/>
          <p:cNvSpPr/>
          <p:nvPr/>
        </p:nvSpPr>
        <p:spPr>
          <a:xfrm>
            <a:off x="850392" y="297180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Keep all 8 for baseline</a:t>
            </a:r>
            <a:endParaRPr b="0" i="0" sz="1350" u="none" cap="none" strike="noStrike">
              <a:solidFill>
                <a:schemeClr val="dk1"/>
              </a:solidFill>
              <a:latin typeface="Arial"/>
              <a:ea typeface="Arial"/>
              <a:cs typeface="Arial"/>
              <a:sym typeface="Arial"/>
            </a:endParaRPr>
          </a:p>
        </p:txBody>
      </p:sp>
      <p:sp>
        <p:nvSpPr>
          <p:cNvPr id="259" name="Google Shape;259;p15"/>
          <p:cNvSpPr/>
          <p:nvPr/>
        </p:nvSpPr>
        <p:spPr>
          <a:xfrm>
            <a:off x="850392" y="3291840"/>
            <a:ext cx="4928616" cy="66751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No pair is so highly correlated that one obviously duplicates another.</a:t>
            </a:r>
            <a:endParaRPr b="0" i="0" sz="1120" u="none" cap="none" strike="noStrike">
              <a:solidFill>
                <a:schemeClr val="dk1"/>
              </a:solidFill>
              <a:latin typeface="Arial"/>
              <a:ea typeface="Arial"/>
              <a:cs typeface="Arial"/>
              <a:sym typeface="Arial"/>
            </a:endParaRPr>
          </a:p>
        </p:txBody>
      </p:sp>
      <p:sp>
        <p:nvSpPr>
          <p:cNvPr id="260" name="Google Shape;260;p15"/>
          <p:cNvSpPr/>
          <p:nvPr/>
        </p:nvSpPr>
        <p:spPr>
          <a:xfrm>
            <a:off x="685800" y="4389120"/>
            <a:ext cx="5257800" cy="1234440"/>
          </a:xfrm>
          <a:prstGeom prst="roundRect">
            <a:avLst>
              <a:gd fmla="val 5185"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850392" y="452628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Investigate skewed features</a:t>
            </a:r>
            <a:endParaRPr b="0" i="0" sz="1350" u="none" cap="none" strike="noStrike">
              <a:solidFill>
                <a:schemeClr val="dk1"/>
              </a:solidFill>
              <a:latin typeface="Arial"/>
              <a:ea typeface="Arial"/>
              <a:cs typeface="Arial"/>
              <a:sym typeface="Arial"/>
            </a:endParaRPr>
          </a:p>
        </p:txBody>
      </p:sp>
      <p:sp>
        <p:nvSpPr>
          <p:cNvPr id="262" name="Google Shape;262;p15"/>
          <p:cNvSpPr/>
          <p:nvPr/>
        </p:nvSpPr>
        <p:spPr>
          <a:xfrm>
            <a:off x="850392" y="4846320"/>
            <a:ext cx="4928616" cy="66751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Instrumentalness is highly concentrated at zero and should be tested in later feature-ablation experiments.</a:t>
            </a:r>
            <a:endParaRPr b="0" i="0" sz="1120" u="none" cap="none" strike="noStrike">
              <a:solidFill>
                <a:schemeClr val="dk1"/>
              </a:solidFill>
              <a:latin typeface="Arial"/>
              <a:ea typeface="Arial"/>
              <a:cs typeface="Arial"/>
              <a:sym typeface="Arial"/>
            </a:endParaRPr>
          </a:p>
        </p:txBody>
      </p:sp>
      <p:sp>
        <p:nvSpPr>
          <p:cNvPr id="263" name="Google Shape;263;p15"/>
          <p:cNvSpPr/>
          <p:nvPr/>
        </p:nvSpPr>
        <p:spPr>
          <a:xfrm>
            <a:off x="6217920" y="1280160"/>
            <a:ext cx="5257800" cy="1234440"/>
          </a:xfrm>
          <a:prstGeom prst="roundRect">
            <a:avLst>
              <a:gd fmla="val 5185"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6382512" y="141732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Standardization is necessary</a:t>
            </a:r>
            <a:endParaRPr b="0" i="0" sz="1350" u="none" cap="none" strike="noStrike">
              <a:solidFill>
                <a:schemeClr val="dk1"/>
              </a:solidFill>
              <a:latin typeface="Arial"/>
              <a:ea typeface="Arial"/>
              <a:cs typeface="Arial"/>
              <a:sym typeface="Arial"/>
            </a:endParaRPr>
          </a:p>
        </p:txBody>
      </p:sp>
      <p:sp>
        <p:nvSpPr>
          <p:cNvPr id="265" name="Google Shape;265;p15"/>
          <p:cNvSpPr/>
          <p:nvPr/>
        </p:nvSpPr>
        <p:spPr>
          <a:xfrm>
            <a:off x="6382512" y="1737360"/>
            <a:ext cx="4928616" cy="66751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The features have different scales and spreads, so raw Euclidean distances would not be comparable.</a:t>
            </a:r>
            <a:endParaRPr b="0" i="0" sz="1120" u="none" cap="none" strike="noStrike">
              <a:solidFill>
                <a:schemeClr val="dk1"/>
              </a:solidFill>
              <a:latin typeface="Arial"/>
              <a:ea typeface="Arial"/>
              <a:cs typeface="Arial"/>
              <a:sym typeface="Arial"/>
            </a:endParaRPr>
          </a:p>
        </p:txBody>
      </p:sp>
      <p:sp>
        <p:nvSpPr>
          <p:cNvPr id="266" name="Google Shape;266;p15"/>
          <p:cNvSpPr/>
          <p:nvPr/>
        </p:nvSpPr>
        <p:spPr>
          <a:xfrm>
            <a:off x="6217920" y="2834640"/>
            <a:ext cx="5257800" cy="1234440"/>
          </a:xfrm>
          <a:prstGeom prst="roundRect">
            <a:avLst>
              <a:gd fmla="val 5185" name="adj"/>
            </a:avLst>
          </a:prstGeom>
          <a:solidFill>
            <a:srgbClr val="FFFFFF"/>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6382512" y="297180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Catalog bias matters</a:t>
            </a:r>
            <a:endParaRPr b="0" i="0" sz="1350" u="none" cap="none" strike="noStrike">
              <a:solidFill>
                <a:schemeClr val="dk1"/>
              </a:solidFill>
              <a:latin typeface="Arial"/>
              <a:ea typeface="Arial"/>
              <a:cs typeface="Arial"/>
              <a:sym typeface="Arial"/>
            </a:endParaRPr>
          </a:p>
        </p:txBody>
      </p:sp>
      <p:sp>
        <p:nvSpPr>
          <p:cNvPr id="268" name="Google Shape;268;p15"/>
          <p:cNvSpPr/>
          <p:nvPr/>
        </p:nvSpPr>
        <p:spPr>
          <a:xfrm>
            <a:off x="6382512" y="3291840"/>
            <a:ext cx="4928616" cy="66751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The recommendation pool is dominated by recent songs, which limits what the system can suggest.</a:t>
            </a:r>
            <a:endParaRPr b="0" i="0" sz="1120" u="none" cap="none" strike="noStrike">
              <a:solidFill>
                <a:schemeClr val="dk1"/>
              </a:solidFill>
              <a:latin typeface="Arial"/>
              <a:ea typeface="Arial"/>
              <a:cs typeface="Arial"/>
              <a:sym typeface="Arial"/>
            </a:endParaRPr>
          </a:p>
        </p:txBody>
      </p:sp>
      <p:sp>
        <p:nvSpPr>
          <p:cNvPr id="269" name="Google Shape;269;p15"/>
          <p:cNvSpPr/>
          <p:nvPr/>
        </p:nvSpPr>
        <p:spPr>
          <a:xfrm>
            <a:off x="6217920" y="4389120"/>
            <a:ext cx="5257800" cy="1234440"/>
          </a:xfrm>
          <a:prstGeom prst="roundRect">
            <a:avLst>
              <a:gd fmla="val 5185" name="adj"/>
            </a:avLst>
          </a:prstGeom>
          <a:solidFill>
            <a:srgbClr val="E7F6EC"/>
          </a:solidFill>
          <a:ln cap="flat" cmpd="sng" w="12700">
            <a:solidFill>
              <a:srgbClr val="D6DC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6382512" y="452628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50"/>
              <a:buFont typeface="Arial"/>
              <a:buNone/>
            </a:pPr>
            <a:r>
              <a:rPr b="1" i="0" lang="en-US" sz="1350" u="none" cap="none" strike="noStrike">
                <a:solidFill>
                  <a:srgbClr val="111111"/>
                </a:solidFill>
                <a:latin typeface="Arial"/>
                <a:ea typeface="Arial"/>
                <a:cs typeface="Arial"/>
                <a:sym typeface="Arial"/>
              </a:rPr>
              <a:t>Next phase</a:t>
            </a:r>
            <a:endParaRPr b="0" i="0" sz="1350" u="none" cap="none" strike="noStrike">
              <a:solidFill>
                <a:schemeClr val="dk1"/>
              </a:solidFill>
              <a:latin typeface="Arial"/>
              <a:ea typeface="Arial"/>
              <a:cs typeface="Arial"/>
              <a:sym typeface="Arial"/>
            </a:endParaRPr>
          </a:p>
        </p:txBody>
      </p:sp>
      <p:sp>
        <p:nvSpPr>
          <p:cNvPr id="271" name="Google Shape;271;p15"/>
          <p:cNvSpPr/>
          <p:nvPr/>
        </p:nvSpPr>
        <p:spPr>
          <a:xfrm>
            <a:off x="6382512" y="4846320"/>
            <a:ext cx="4928616" cy="667512"/>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5E6661"/>
              </a:buClr>
              <a:buSzPts val="1120"/>
              <a:buFont typeface="Arial"/>
              <a:buNone/>
            </a:pPr>
            <a:r>
              <a:rPr b="0" i="0" lang="en-US" sz="1120" u="none" cap="none" strike="noStrike">
                <a:solidFill>
                  <a:srgbClr val="5E6661"/>
                </a:solidFill>
                <a:latin typeface="Arial"/>
                <a:ea typeface="Arial"/>
                <a:cs typeface="Arial"/>
                <a:sym typeface="Arial"/>
              </a:rPr>
              <a:t>Standardize the features → build baseline KNN → compare similarity methods and evaluate recommendations.</a:t>
            </a:r>
            <a:endParaRPr b="0" i="0" sz="1120" u="none" cap="none" strike="noStrike">
              <a:solidFill>
                <a:schemeClr val="dk1"/>
              </a:solidFill>
              <a:latin typeface="Arial"/>
              <a:ea typeface="Arial"/>
              <a:cs typeface="Arial"/>
              <a:sym typeface="Arial"/>
            </a:endParaRPr>
          </a:p>
        </p:txBody>
      </p:sp>
      <p:sp>
        <p:nvSpPr>
          <p:cNvPr id="272" name="Google Shape;272;p15"/>
          <p:cNvSpPr txBox="1"/>
          <p:nvPr>
            <p:ph idx="4294967295" type="sldNum"/>
          </p:nvPr>
        </p:nvSpPr>
        <p:spPr>
          <a:xfrm>
            <a:off x="11722608" y="6483096"/>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rgbClr val="7C837E"/>
                </a:solidFill>
                <a:latin typeface="Arial"/>
                <a:ea typeface="Arial"/>
                <a:cs typeface="Arial"/>
                <a:sym typeface="Arial"/>
              </a:rPr>
              <a:t>‹#›</a:t>
            </a:fld>
            <a:endParaRPr b="0" i="0" sz="900" u="none" cap="none" strike="noStrike">
              <a:solidFill>
                <a:srgbClr val="7C837E"/>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